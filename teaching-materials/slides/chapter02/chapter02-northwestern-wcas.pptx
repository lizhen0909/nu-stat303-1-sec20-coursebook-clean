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connect the terminal, a project Python environment, and local data. Students should have completed Chapter 1 and downloaded the setup practice kit.
Design sources: https://www.northwestern.edu/brand/visual-identity/color-palettes/ ; original Northwestern white wordmark from https://weinberg.northwestern.edu/css/styles.css . This is a course lecture deck styled for Weinberg College.
Source: Chapter 2, overview
/Users/lizhenshi/mydev/nu-stat303-1-sec20-coursebook-clean/docs/python_venv.html
Coursebook: https://lizhen0909.github.io/nu-stat303-1-sec20-coursebook-clean/python_venv.html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extracted stat303-setup folder in VS Code, then activity02.ipynb. Do not work inside the ZIP viewer. The environment and requirements file will be added later. Complete Chapter 1 first.
Source: Chapter 2, overview
/Users/lizhenshi/mydev/nu-stat303-1-sec20-coursebook-clean/docs/python_venv.html
Coursebook: https://lizhen0909.github.io/nu-stat303-1-sec20-coursebook-clean/python_venv.html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terminal is the text interface. The shell interprets commands: zsh or Bash on macOS; PowerShell or Command Prompt on Windows. Open Terminal → New Terminal. Use the terminal to prepare the project, install packages, and render reports. Image: chapter Figure 2.1.
Source: Chapter 2, what-is-a-terminal
/Users/lizhenshi/mydev/nu-stat303-1-sec20-coursebook-clean/docs/python_venv.html#what-is-a-terminal
Coursebook: https://lizhen0909.github.io/nu-stat303-1-sec20-coursebook-clean/python_venv.html#what-is-a-terminal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prompt accepts shell commands. Answer: the first two; &gt;&gt;&gt; is interactive Python. Type exit() to return to the shell. In notebooks, Python belongs in a code cell. A successful shell command may produce no output.
Source: Chapter 2, read-the-prompt-and-enter-a-command
/Users/lizhenshi/mydev/nu-stat303-1-sec20-coursebook-clean/docs/python_venv.html#read-the-prompt-and-enter-a-command
Coursebook: https://lizhen0909.github.io/nu-stat303-1-sec20-coursebook-clean/python_venv.html#read-the-prompt-and-enter-a-command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one command at a time. pwd/Get-Location/cd reports the current working directory; ls/Get-ChildItem/dir lists contents. A dot means current directory; two dots mean parent. Quote paths with spaces. In Command Prompt, cd /d changes drives as well as folders.
Source: Chapter 2, navigate-in-the-terminal
/Users/lizhenshi/mydev/nu-stat303-1-sec20-coursebook-clean/docs/python_venv.html#navigate-in-the-terminal
Coursebook: https://lizhen0909.github.io/nu-stat303-1-sec20-coursebook-clean/python_venv.html#navigate-in-the-terminal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distinguish syntax context, interpreter identity, and working directory. Navigation commands do not use Python, so the environment check is unnecessary for cd or ls. Selecting a kernel does not necessarily change the terminal environment.
Source: Chapter 2, ask-three-questions-before-a-command
/Users/lizhenshi/mydev/nu-stat303-1-sec20-coursebook-clean/docs/python_venv.html#ask-three-questions-before-a-command
Coursebook: https://lizhen0909.github.io/nu-stat303-1-sec20-coursebook-clean/python_venv.html#ask-three-questions-before-a-command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virtual environment connects an already installed Python interpreter with its own installed packages. Different projects may need incompatible package versions. Isolation separates projects; it does not make incompatible dependencies work together inside one environment. The examples are hypothetical. A Python version describes the interpreter release; a kernel is the running notebook process.
Source: Chapter 2, why-use-a-python-virtual-environment
/Users/lizhenshi/mydev/nu-stat303-1-sec20-coursebook-clean/docs/python_venv.html#why-use-a-python-virtual-environment
Coursebook: https://lizhen0909.github.io/nu-stat303-1-sec20-coursebook-clean/python_venv.html#why-use-a-python-virtual-environment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built-in venv environment for this course. venv is the module; .venv is the conventional folder name. Keep notebooks and data outside it. Select Create Python Environment, Venv, and the working Python used in Chapter 1. If menus differ, use Python: Create Environment in the Command Palette. If .venv already exists, select and verify it instead of creating another. Accept ipykernel installation for the selected environment if prompted. Image: chapter Figure 2.4.
Source: Chapter 2, method-1-create-.venv-from-the-notebook-kernel-picker
/Users/lizhenshi/mydev/nu-stat303-1-sec20-coursebook-clean/docs/python_venv.html#method-1-create-.venv-from-the-notebook-kernel-picker
Coursebook: https://lizhen0909.github.io/nu-stat303-1-sec20-coursebook-clean/python_venv.html#method-1-create-.venv-from-the-notebook-kernel-picker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one creation method. Start in stat303-setup. The first command prints the interpreter path. -m venv runs Python’s environment-creation module. Creation does not download a different Python version or install the course packages. On macOS use python3 for both commands if python is unavailable. Afterward select this environment in the notebook kernel picker.
Source: Chapter 2, method-2-create-.venv-in-the-terminal
/Users/lizhenshi/mydev/nu-stat303-1-sec20-coursebook-clean/docs/python_venv.html#method-2-create-.venv-in-the-terminal
Coursebook: https://lizhen0909.github.io/nu-stat303-1-sec20-coursebook-clean/python_venv.html#method-2-create-.venv-in-the-terminal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the project using Python: Select Interpreter, then open a new terminal. Automatic activation may occur; these are the manual commands if needed. The (.venv) marker is helpful, but compare full executable paths before installing. Notebook kernel selection is separate. Image: chapter Figure 2.5.
Source: Chapter 2, restart-the-terminal-and-verify-both-places
/Users/lizhenshi/mydev/nu-stat303-1-sec20-coursebook-clean/docs/python_venv.html#restart-the-terminal-and-verify-both-places
Coursebook: https://lizhen0909.github.io/nu-stat303-1-sec20-coursebook-clean/python_venv.html#restart-the-terminal-and-verify-both-places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paths should point into the same project’s .venv. macOS usually ends in .venv/bin/python and Windows in .venv\Scripts\python.exe. Two separate projects may both name their environment .venv: compare the entire project portion. Correct activation or kernel selection and repeat when they differ.
Source: Chapter 2, restart-the-terminal-and-verify-both-places
/Users/lizhenshi/mydev/nu-stat303-1-sec20-coursebook-clean/docs/python_venv.html#restart-the-terminal-and-verify-both-places
Coursebook: https://lizhen0909.github.io/nu-stat303-1-sec20-coursebook-clean/python_venv.html#restart-the-terminal-and-verify-both-places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No. Both end in .venv/bin/python, but the project folders differ. Select stat303-setup/.venv in the notebook kernel picker, then repeat the executable check. This is an illustrative macOS example. Do not install packages until the intended environment is verified.
Source: Chapter 2, restart-the-terminal-and-verify-both-places
/Users/lizhenshi/mydev/nu-stat303-1-sec20-coursebook-clean/docs/python_venv.html#restart-the-terminal-and-verify-both-places
Coursebook: https://lizhen0909.github.io/nu-stat303-1-sec20-coursebook-clean/python_venv.html#restart-the-terminal-and-verify-both-places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activation and full interpreter verification, use the terminal to install the four listed packages. Then use %pip in a notebook code cell to install Seaborn into that kernel’s environment. Restart if prompted. ipykernel supports notebook execution; NumPy supplies numerical tools, Pandas table tools, Matplotlib plotting, and Seaborn statistical graphics. A Requirement already satisfied response is not an error. Pip may also install dependencies.
Source: Chapter 2, install-packages-in-the-intended-environment
/Users/lizhenshi/mydev/nu-stat303-1-sec20-coursebook-clean/docs/python_venv.html#install-packages-in-the-intended-environment
Coursebook: https://lizhen0909.github.io/nu-stat303-1-sec20-coursebook-clean/python_venv.html#install-packages-in-the-intended-environment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persists on disk after closing the notebook. Imports and variables belong to the running kernel and must be restored after a restart. as creates a shorter name. __version__ has two underscores on both sides. If imports fail after installation, compare executable paths before reinstalling. If paths match, inspect the package name, installation result, and whether a kernel restart is needed.
Source: Chapter 2, install-once-import-in-every-notebook
/Users/lizhenshi/mydev/nu-stat303-1-sec20-coursebook-clean/docs/python_venv.html#install-once-import-in-every-notebook
Coursebook: https://lizhen0909.github.io/nu-stat303-1-sec20-coursebook-clean/python_venv.html#install-once-import-in-every-notebook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after installing and checking all course tools, including Seaborn. Confirm the terminal folder and Python first. These commands replace requirements.txt if it exists. &gt; writes output to a file. PowerShell uses an explicit UTF-8 encoding to avoid Windows PowerShell 5.1 defaults. Open and inspect the result. Entries include dependencies, so expect more packages than directly installed.
Source: Chapter 2, save-the-package-record
/Users/lizhenshi/mydev/nu-stat303-1-sec20-coursebook-clean/docs/python_venv.html#save-the-package-record
Coursebook: https://lizhen0909.github.io/nu-stat303-1-sec20-coursebook-clean/python_venv.html#save-the-package-record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new environment on the destination computer using a compatible installed Python; activate it and verify the executable. Then run the command in the folder containing requirements.txt. -r reads requirements from the file. Choose the recreated environment as the notebook kernel and test imports. Do not copy .venv between computers. Package version matching helps reproducibility, but Python and OS compatibility still matter. Ask: Does freeze install anything? Answer: No; it reports installed packages.
Source: Chapter 2, use-the-record-in-a-new-environment
/Users/lizhenshi/mydev/nu-stat303-1-sec20-coursebook-clean/docs/python_venv.html#use-the-record-in-a-new-environment
Coursebook: https://lizhen0909.github.io/nu-stat303-1-sec20-coursebook-clean/python_venv.html#use-the-record-in-a-new-environment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absolute path starts at the filesystem root with the drive on Windows. These examples are illustrative user paths. A relative path is interpreted from the actual current working directory of the process using it. Forward slashes alone do not make an absolute path portable. Windows absolute example: C:/Users/student/stat303-setup/data/station_readings.csv.
Source: Chapter 2, find-local-data-with-paths
/Users/lizhenshi/mydev/nu-stat303-1-sec20-coursebook-clean/docs/python_venv.html#find-local-data-with-paths
Coursebook: https://lizhen0909.github.io/nu-stat303-1-sec20-coursebook-clean/python_venv.html#find-local-data-with-paths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comes from Python’s built-in pathlib module; no package installation is needed. The / operator joins folder and file names and handles platform separators. Path.cwd() checks the notebook’s current directory. resolve() produces an absolute path without proving the file exists. is_file() specifically checks for a file. Keep the notebook’s working folder at stat303-setup for this kit.
Source: Chapter 2, find-local-data-with-paths
/Users/lizhenshi/mydev/nu-stat303-1-sec20-coursebook-clean/docs/python_venv.html#find-local-data-with-paths
Coursebook: https://lizhen0909.github.io/nu-stat303-1-sec20-coursebook-clean/python_venv.html#find-local-data-with-paths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Proceed only after the real file check returns True. read_text reads this small supplied file as UTF-8; splitlines separates lines; [:3] selects the first three. It reads the text file before slicing. The result is a list of strings, not a Pandas table. The displayed output was checked against the supplied station_readings.csv.
Source: Chapter 2, find-local-data-with-paths
/Users/lizhenshi/mydev/nu-stat303-1-sec20-coursebook-clean/docs/python_venv.html#find-local-data-with-paths
Coursebook: https://lizhen0909.github.io/nu-stat303-1-sec20-coursebook-clean/python_venv.html#find-local-data-with-paths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hypothetical project, not a request to move files or create a notebooks folder in the practice kit. Assume the notebook actually runs from example-project/notebooks. Its sibling data directory requires going up one level. The path depends on actual cwd, not merely where a file is saved. Do not repeatedly add .. until something works.
Source: Chapter 2, what-changes-when-the-working-directory-changes
/Users/lizhenshi/mydev/nu-stat303-1-sec20-coursebook-clean/docs/python_venv.html#what-changes-when-the-working-directory-changes
Coursebook: https://lizhen0909.github.io/nu-stat303-1-sec20-coursebook-clean/python_venv.html#what-changes-when-the-working-directory-changes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notebook remains in stat303-setup. cd affects that terminal, not an already running notebook. In the notebook, Path("data") / "station_readings.csv" still refers to the intended file under the stated assumptions. Verify with Path.cwd() rather than assuming. Optional detail: notebook %cd changes that kernel session’s cwd; !cd generally runs in a temporary shell and does not persist.
Source: Chapter 2, what-changes-when-the-working-directory-changes
/Users/lizhenshi/mydev/nu-stat303-1-sec20-coursebook-clean/docs/python_venv.html#what-changes-when-the-working-directory-changes
Coursebook: https://lizhen0909.github.io/nu-stat303-1-sec20-coursebook-clean/python_venv.html#what-changes-when-the-working-directory-changes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printed current directory, resolved location, exact filename and capitalization, and extracted layout. A Path expression only describes a location; resolve does not search for misplaced files. exists can also be true for a folder, so is_file is the relevant check. In the activity, use a separate wrong_path to demonstrate False; do not alter supplied data.
Source: Chapter 2, find-local-data-with-paths
/Users/lizhenshi/mydev/nu-stat303-1-sec20-coursebook-clean/docs/python_venv.html#find-local-data-with-paths
Coursebook: https://lizhen0909.github.io/nu-stat303-1-sec20-coursebook-clean/python_venv.html#find-local-data-with-paths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the environment and installing packages are setup steps, not daily steps. Reopen the same project and select the intended environment. Check terminal activation and cwd. Restarting only the kernel clears imports and variables but leaves files and packages on disk.
Source: Chapter 2, when-you-return-to-the-project
/Users/lizhenshi/mydev/nu-stat303-1-sec20-coursebook-clean/docs/python_venv.html#when-you-return-to-the-project
Coursebook: https://lizhen0909.github.io/nu-stat303-1-sec20-coursebook-clean/python_venv.html#when-you-return-to-the-project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is the authoritative source for complete instructions. A: name in Raw and Markdown cells, terminal shell, explanation of terminal/environment roles, current folder and listing. B: create/verify .venv, record three checks, terminal installs plus temporary %pip seaborn cell, remove installation cell afterward and record command in Markdown, include NumPy/version and full executable checks. C: change terminal directory while observing unchanged notebook cwd, then return. D: predict real and wrong file checks, retain resolved path and first three CSV lines, explain relative base. E: export requirements, include two actual package/version entries, restart/run all/save and record completion.
Source: Chapter 2, practice-activity-find-your-python-and-your-data
/Users/lizhenshi/mydev/nu-stat303-1-sec20-coursebook-clean/docs/python_venv.html#practice-activity-find-your-python-and-your-data
Coursebook: https://lizhen0909.github.io/nu-stat303-1-sec20-coursebook-clean/python_venv.html#practice-activity-find-your-python-and-your-data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Restart the kernel, run all cells from top to bottom, resolve unexpected errors, and save. Render from stat303-setup. Inspect the HTML and a copy outside the project for name, explanations, code, and current outputs. Submit only activity02.html through the final file-upload question in the Chapter 2 Canvas quiz. Retain notebooks, data, and requirements locally; do not upload .venv. Grading: tools/context 2, environment/packages 4, navigation 3, paths 3, dependencies 2, readable HTML 2 = 16 points. Assignment B is separate, with its own kit and 100-point Canvas assignment.
Source: Chapter 2, make-the-html-for-submission
/Users/lizhenshi/mydev/nu-stat303-1-sec20-coursebook-clean/docs/python_venv.html#make-the-html-for-submission
Coursebook: https://lizhen0909.github.io/nu-stat303-1-sec20-coursebook-clean/python_venv.html#make-the-html-for-submission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one check for each question. Answers: identify shell versus notebook cell; compare sys.executable; check cwd using notebook Path.cwd() and the appropriate shell command. Proceed to Assignment B after the two chapter activities. Assignment B uses a separate kit and separate Canvas submission.
Source: Chapter 2, next-assignment-b
/Users/lizhenshi/mydev/nu-stat303-1-sec20-coursebook-clean/docs/python_venv.html#next-assignment-b
Coursebook: https://lizhen0909.github.io/nu-stat303-1-sec20-coursebook-clean/python_venv.html#next-assignment-b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A84"/>
        </a:solidFill>
      </p:bgPr>
    </p:bg>
    <p:spTree>
      <p:nvGrpSpPr>
        <p:cNvPr id="1" name=""/>
        <p:cNvGrpSpPr/>
        <p:nvPr/>
      </p:nvGrpSpPr>
      <p:grpSpPr>
        <a:xfrm>
          <a:off x="0" y="0"/>
          <a:ext cx="0" cy="0"/>
          <a:chOff x="0" y="0"/>
          <a:chExt cx="0" cy="0"/>
        </a:xfrm>
      </p:grpSpPr>
      <p:pic>
        <p:nvPicPr>
          <p:cNvPr id="2" name="Image 0" descr="/tmp/stat303-ch02-slides/wordmark.png">    </p:cNvPr>
          <p:cNvPicPr>
            <a:picLocks noChangeAspect="1"/>
          </p:cNvPicPr>
          <p:nvPr/>
        </p:nvPicPr>
        <p:blipFill>
          <a:blip r:embed="rId1"/>
          <a:stretch>
            <a:fillRect/>
          </a:stretch>
        </p:blipFill>
        <p:spPr>
          <a:xfrm>
            <a:off x="594360" y="457200"/>
            <a:ext cx="3931920" cy="358079"/>
          </a:xfrm>
          <a:prstGeom prst="rect">
            <a:avLst/>
          </a:prstGeom>
        </p:spPr>
      </p:pic>
      <p:sp>
        <p:nvSpPr>
          <p:cNvPr id="3" name="Text 0"/>
          <p:cNvSpPr/>
          <p:nvPr/>
        </p:nvSpPr>
        <p:spPr>
          <a:xfrm>
            <a:off x="594360" y="1005840"/>
            <a:ext cx="9144000" cy="365760"/>
          </a:xfrm>
          <a:prstGeom prst="rect">
            <a:avLst/>
          </a:prstGeom>
          <a:noFill/>
          <a:ln/>
        </p:spPr>
        <p:txBody>
          <a:bodyPr wrap="square" lIns="0" tIns="0" rIns="0" bIns="0" rtlCol="0" anchor="t"/>
          <a:lstStyle/>
          <a:p>
            <a:pPr indent="0" marL="0">
              <a:spcAft>
                <a:spcPts val="800"/>
              </a:spcAft>
              <a:buNone/>
            </a:pPr>
            <a:r>
              <a:rPr lang="en-US" sz="2000" dirty="0">
                <a:solidFill>
                  <a:srgbClr val="FFFFFF"/>
                </a:solidFill>
                <a:latin typeface="Arial" pitchFamily="34" charset="0"/>
                <a:ea typeface="Arial" pitchFamily="34" charset="-122"/>
                <a:cs typeface="Arial" pitchFamily="34" charset="-120"/>
              </a:rPr>
              <a:t>Weinberg College of Arts and Sciences</a:t>
            </a:r>
            <a:endParaRPr lang="en-US" sz="2000" dirty="0"/>
          </a:p>
        </p:txBody>
      </p:sp>
      <p:sp>
        <p:nvSpPr>
          <p:cNvPr id="4" name="Text 1"/>
          <p:cNvSpPr/>
          <p:nvPr/>
        </p:nvSpPr>
        <p:spPr>
          <a:xfrm>
            <a:off x="594360" y="2103120"/>
            <a:ext cx="10881360" cy="1645920"/>
          </a:xfrm>
          <a:prstGeom prst="rect">
            <a:avLst/>
          </a:prstGeom>
          <a:noFill/>
          <a:ln/>
        </p:spPr>
        <p:txBody>
          <a:bodyPr wrap="square" lIns="0" tIns="0" rIns="0" bIns="0" rtlCol="0" anchor="t"/>
          <a:lstStyle/>
          <a:p>
            <a:pPr indent="0" marL="0">
              <a:spcAft>
                <a:spcPts val="800"/>
              </a:spcAft>
              <a:buNone/>
            </a:pPr>
            <a:r>
              <a:rPr lang="en-US" sz="4300" b="1" dirty="0">
                <a:solidFill>
                  <a:srgbClr val="FFFFFF"/>
                </a:solidFill>
                <a:latin typeface="Arial" pitchFamily="34" charset="0"/>
                <a:ea typeface="Arial" pitchFamily="34" charset="-122"/>
                <a:cs typeface="Arial" pitchFamily="34" charset="-120"/>
              </a:rPr>
              <a:t>Project Environments,</a:t>
            </a:r>
            <a:endParaRPr lang="en-US" sz="4300" dirty="0"/>
          </a:p>
          <a:p>
            <a:pPr indent="0" marL="0">
              <a:spcAft>
                <a:spcPts val="800"/>
              </a:spcAft>
              <a:buNone/>
            </a:pPr>
            <a:r>
              <a:rPr lang="en-US" sz="4300" b="1" dirty="0">
                <a:solidFill>
                  <a:srgbClr val="FFFFFF"/>
                </a:solidFill>
                <a:latin typeface="Arial" pitchFamily="34" charset="0"/>
                <a:ea typeface="Arial" pitchFamily="34" charset="-122"/>
                <a:cs typeface="Arial" pitchFamily="34" charset="-120"/>
              </a:rPr>
              <a:t>Packages, and File Paths</a:t>
            </a:r>
            <a:endParaRPr lang="en-US" sz="4300" dirty="0"/>
          </a:p>
        </p:txBody>
      </p:sp>
      <p:sp>
        <p:nvSpPr>
          <p:cNvPr id="5" name="Text 2"/>
          <p:cNvSpPr/>
          <p:nvPr/>
        </p:nvSpPr>
        <p:spPr>
          <a:xfrm>
            <a:off x="594360" y="4709160"/>
            <a:ext cx="9144000" cy="457200"/>
          </a:xfrm>
          <a:prstGeom prst="rect">
            <a:avLst/>
          </a:prstGeom>
          <a:noFill/>
          <a:ln/>
        </p:spPr>
        <p:txBody>
          <a:bodyPr wrap="square" lIns="0" tIns="0" rIns="0" bIns="0" rtlCol="0" anchor="t"/>
          <a:lstStyle/>
          <a:p>
            <a:pPr indent="0" marL="0">
              <a:spcAft>
                <a:spcPts val="800"/>
              </a:spcAft>
              <a:buNone/>
            </a:pPr>
            <a:r>
              <a:rPr lang="en-US" sz="2200" dirty="0">
                <a:solidFill>
                  <a:srgbClr val="FFFFFF"/>
                </a:solidFill>
                <a:latin typeface="Arial" pitchFamily="34" charset="0"/>
                <a:ea typeface="Arial" pitchFamily="34" charset="-122"/>
                <a:cs typeface="Arial" pitchFamily="34" charset="-120"/>
              </a:rPr>
              <a:t>STAT 303-1  ·  Chapter 2</a:t>
            </a:r>
            <a:endParaRPr lang="en-US" sz="2200" dirty="0"/>
          </a:p>
        </p:txBody>
      </p:sp>
      <p:sp>
        <p:nvSpPr>
          <p:cNvPr id="6" name="Text 3"/>
          <p:cNvSpPr/>
          <p:nvPr/>
        </p:nvSpPr>
        <p:spPr>
          <a:xfrm>
            <a:off x="594360" y="5577840"/>
            <a:ext cx="5486400" cy="320040"/>
          </a:xfrm>
          <a:prstGeom prst="rect">
            <a:avLst/>
          </a:prstGeom>
          <a:noFill/>
          <a:ln/>
        </p:spPr>
        <p:txBody>
          <a:bodyPr wrap="square" lIns="0" tIns="0" rIns="0" bIns="0" rtlCol="0" anchor="t"/>
          <a:lstStyle/>
          <a:p>
            <a:pPr indent="0" marL="0">
              <a:spcAft>
                <a:spcPts val="800"/>
              </a:spcAft>
              <a:buNone/>
            </a:pPr>
            <a:r>
              <a:rPr lang="en-US" sz="1800" dirty="0">
                <a:solidFill>
                  <a:srgbClr val="FFFFFF"/>
                </a:solidFill>
                <a:latin typeface="Arial" pitchFamily="34" charset="0"/>
                <a:ea typeface="Arial" pitchFamily="34" charset="-122"/>
                <a:cs typeface="Arial" pitchFamily="34" charset="-120"/>
              </a:rPr>
              <a:t>Lizhen Shi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Continue in the same project folder</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GET READY</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02</a:t>
            </a:r>
            <a:endParaRPr lang="en-US" sz="1100" dirty="0"/>
          </a:p>
        </p:txBody>
      </p:sp>
      <p:sp>
        <p:nvSpPr>
          <p:cNvPr id="8" name="Shape 5"/>
          <p:cNvSpPr/>
          <p:nvPr/>
        </p:nvSpPr>
        <p:spPr>
          <a:xfrm>
            <a:off x="548640" y="1828800"/>
            <a:ext cx="6309360" cy="3474720"/>
          </a:xfrm>
          <a:prstGeom prst="rect">
            <a:avLst/>
          </a:prstGeom>
          <a:solidFill>
            <a:srgbClr val="F2F0F6"/>
          </a:solidFill>
          <a:ln w="12700">
            <a:solidFill>
              <a:srgbClr val="F2F0F6">
                <a:alpha val="0"/>
              </a:srgbClr>
            </a:solidFill>
            <a:prstDash val="solid"/>
          </a:ln>
        </p:spPr>
      </p:sp>
      <p:sp>
        <p:nvSpPr>
          <p:cNvPr id="9" name="Text 6"/>
          <p:cNvSpPr/>
          <p:nvPr/>
        </p:nvSpPr>
        <p:spPr>
          <a:xfrm>
            <a:off x="749808" y="2011680"/>
            <a:ext cx="5907024" cy="314553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stat303-setup/</a:t>
            </a:r>
            <a:endParaRPr lang="en-US" sz="2300" dirty="0"/>
          </a:p>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 activity01.ipynb</a:t>
            </a:r>
            <a:endParaRPr lang="en-US" sz="2300" dirty="0"/>
          </a:p>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 activity02.ipynb</a:t>
            </a:r>
            <a:endParaRPr lang="en-US" sz="2300" dirty="0"/>
          </a:p>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 data/</a:t>
            </a:r>
            <a:endParaRPr lang="en-US" sz="2300" dirty="0"/>
          </a:p>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    └── station_readings.csv</a:t>
            </a:r>
            <a:endParaRPr lang="en-US" sz="2300" dirty="0"/>
          </a:p>
        </p:txBody>
      </p:sp>
      <p:sp>
        <p:nvSpPr>
          <p:cNvPr id="10" name="Text 7"/>
          <p:cNvSpPr/>
          <p:nvPr/>
        </p:nvSpPr>
        <p:spPr>
          <a:xfrm>
            <a:off x="731520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TODAY’S WORK</a:t>
            </a:r>
            <a:endParaRPr lang="en-US" sz="1400" dirty="0"/>
          </a:p>
        </p:txBody>
      </p:sp>
      <p:sp>
        <p:nvSpPr>
          <p:cNvPr id="11" name="Text 8"/>
          <p:cNvSpPr/>
          <p:nvPr/>
        </p:nvSpPr>
        <p:spPr>
          <a:xfrm>
            <a:off x="7315200" y="2377440"/>
            <a:ext cx="4206240" cy="3108960"/>
          </a:xfrm>
          <a:prstGeom prst="rect">
            <a:avLst/>
          </a:prstGeom>
          <a:noFill/>
          <a:ln/>
        </p:spPr>
        <p:txBody>
          <a:bodyPr wrap="square" lIns="0" tIns="0" rIns="0" bIns="0" rtlCol="0" anchor="t"/>
          <a:lstStyle/>
          <a:p>
            <a:pPr indent="0" marL="0">
              <a:spcAft>
                <a:spcPts val="800"/>
              </a:spcAft>
              <a:buNone/>
            </a:pPr>
            <a:r>
              <a:rPr lang="en-US" sz="2400" dirty="0">
                <a:solidFill>
                  <a:srgbClr val="242229"/>
                </a:solidFill>
                <a:latin typeface="Arial" pitchFamily="34" charset="0"/>
                <a:ea typeface="Arial" pitchFamily="34" charset="-122"/>
                <a:cs typeface="Arial" pitchFamily="34" charset="-120"/>
              </a:rPr>
              <a:t>Navigate folders</a:t>
            </a:r>
            <a:endParaRPr lang="en-US" sz="2400" dirty="0"/>
          </a:p>
          <a:p>
            <a:pPr indent="0" marL="0">
              <a:spcAft>
                <a:spcPts val="800"/>
              </a:spcAft>
              <a:buNone/>
            </a:pPr>
            <a:endParaRPr lang="en-US" sz="2400" dirty="0"/>
          </a:p>
          <a:p>
            <a:pPr indent="0" marL="0">
              <a:spcAft>
                <a:spcPts val="800"/>
              </a:spcAft>
              <a:buNone/>
            </a:pPr>
            <a:r>
              <a:rPr lang="en-US" sz="2400" dirty="0">
                <a:solidFill>
                  <a:srgbClr val="242229"/>
                </a:solidFill>
                <a:latin typeface="Arial" pitchFamily="34" charset="0"/>
                <a:ea typeface="Arial" pitchFamily="34" charset="-122"/>
                <a:cs typeface="Arial" pitchFamily="34" charset="-120"/>
              </a:rPr>
              <a:t>Create and verify .venv</a:t>
            </a:r>
            <a:endParaRPr lang="en-US" sz="2400" dirty="0"/>
          </a:p>
          <a:p>
            <a:pPr indent="0" marL="0">
              <a:spcAft>
                <a:spcPts val="800"/>
              </a:spcAft>
              <a:buNone/>
            </a:pPr>
            <a:endParaRPr lang="en-US" sz="2400" dirty="0"/>
          </a:p>
          <a:p>
            <a:pPr indent="0" marL="0">
              <a:spcAft>
                <a:spcPts val="800"/>
              </a:spcAft>
              <a:buNone/>
            </a:pPr>
            <a:r>
              <a:rPr lang="en-US" sz="2400" dirty="0">
                <a:solidFill>
                  <a:srgbClr val="242229"/>
                </a:solidFill>
                <a:latin typeface="Arial" pitchFamily="34" charset="0"/>
                <a:ea typeface="Arial" pitchFamily="34" charset="-122"/>
                <a:cs typeface="Arial" pitchFamily="34" charset="-120"/>
              </a:rPr>
              <a:t>Install packages and find data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The terminal and the shell</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2.1–2.2</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03</a:t>
            </a:r>
            <a:endParaRPr lang="en-US" sz="1100" dirty="0"/>
          </a:p>
        </p:txBody>
      </p:sp>
      <p:pic>
        <p:nvPicPr>
          <p:cNvPr id="8" name="Image 0" descr="/Users/lizhenshi/mydev/nu-stat303-1-sec20-coursebook-clean/images/vscode-integrated-terminal-annotated-v2.png">    </p:cNvPr>
          <p:cNvPicPr>
            <a:picLocks noChangeAspect="1"/>
          </p:cNvPicPr>
          <p:nvPr/>
        </p:nvPicPr>
        <p:blipFill>
          <a:blip r:embed="rId1"/>
          <a:stretch>
            <a:fillRect/>
          </a:stretch>
        </p:blipFill>
        <p:spPr>
          <a:xfrm>
            <a:off x="688057" y="1783080"/>
            <a:ext cx="4841806" cy="4251960"/>
          </a:xfrm>
          <a:prstGeom prst="rect">
            <a:avLst/>
          </a:prstGeom>
        </p:spPr>
      </p:pic>
      <p:sp>
        <p:nvSpPr>
          <p:cNvPr id="9" name="Text 5"/>
          <p:cNvSpPr/>
          <p:nvPr/>
        </p:nvSpPr>
        <p:spPr>
          <a:xfrm>
            <a:off x="612648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OPEN IN VS CODE</a:t>
            </a:r>
            <a:endParaRPr lang="en-US" sz="1400" dirty="0"/>
          </a:p>
        </p:txBody>
      </p:sp>
      <p:sp>
        <p:nvSpPr>
          <p:cNvPr id="10" name="Text 6"/>
          <p:cNvSpPr/>
          <p:nvPr/>
        </p:nvSpPr>
        <p:spPr>
          <a:xfrm>
            <a:off x="6126480" y="2286000"/>
            <a:ext cx="5394960" cy="731520"/>
          </a:xfrm>
          <a:prstGeom prst="rect">
            <a:avLst/>
          </a:prstGeom>
          <a:noFill/>
          <a:ln/>
        </p:spPr>
        <p:txBody>
          <a:bodyPr wrap="square" lIns="0" tIns="0" rIns="0" bIns="0" rtlCol="0" anchor="t"/>
          <a:lstStyle/>
          <a:p>
            <a:pPr indent="0" marL="0">
              <a:spcAft>
                <a:spcPts val="800"/>
              </a:spcAft>
              <a:buNone/>
            </a:pPr>
            <a:r>
              <a:rPr lang="en-US" sz="2700" dirty="0">
                <a:solidFill>
                  <a:srgbClr val="242229"/>
                </a:solidFill>
                <a:latin typeface="Arial" pitchFamily="34" charset="0"/>
                <a:ea typeface="Arial" pitchFamily="34" charset="-122"/>
                <a:cs typeface="Arial" pitchFamily="34" charset="-120"/>
              </a:rPr>
              <a:t>Terminal → New Terminal</a:t>
            </a:r>
            <a:endParaRPr lang="en-US" sz="2700" dirty="0"/>
          </a:p>
        </p:txBody>
      </p:sp>
      <p:sp>
        <p:nvSpPr>
          <p:cNvPr id="11" name="Text 7"/>
          <p:cNvSpPr/>
          <p:nvPr/>
        </p:nvSpPr>
        <p:spPr>
          <a:xfrm>
            <a:off x="6126480" y="3291840"/>
            <a:ext cx="5120640" cy="2468880"/>
          </a:xfrm>
          <a:prstGeom prst="rect">
            <a:avLst/>
          </a:prstGeom>
          <a:noFill/>
          <a:ln/>
        </p:spPr>
        <p:txBody>
          <a:bodyPr wrap="square" lIns="0" tIns="0" rIns="0" bIns="0" rtlCol="0" anchor="t"/>
          <a:lstStyle/>
          <a:p>
            <a:pPr indent="0" marL="0">
              <a:spcAft>
                <a:spcPts val="800"/>
              </a:spcAft>
              <a:buNone/>
            </a:pPr>
            <a:r>
              <a:rPr lang="en-US" sz="2400" dirty="0">
                <a:solidFill>
                  <a:srgbClr val="242229"/>
                </a:solidFill>
                <a:latin typeface="Arial" pitchFamily="34" charset="0"/>
                <a:ea typeface="Arial" pitchFamily="34" charset="-122"/>
                <a:cs typeface="Arial" pitchFamily="34" charset="-120"/>
              </a:rPr>
              <a:t>Type a command.</a:t>
            </a:r>
            <a:endParaRPr lang="en-US" sz="2400" dirty="0"/>
          </a:p>
          <a:p>
            <a:pPr indent="0" marL="0">
              <a:spcAft>
                <a:spcPts val="800"/>
              </a:spcAft>
              <a:buNone/>
            </a:pPr>
            <a:r>
              <a:rPr lang="en-US" sz="2400" dirty="0">
                <a:solidFill>
                  <a:srgbClr val="242229"/>
                </a:solidFill>
                <a:latin typeface="Arial" pitchFamily="34" charset="0"/>
                <a:ea typeface="Arial" pitchFamily="34" charset="-122"/>
                <a:cs typeface="Arial" pitchFamily="34" charset="-120"/>
              </a:rPr>
              <a:t>Press Enter.</a:t>
            </a:r>
            <a:endParaRPr lang="en-US" sz="2400" dirty="0"/>
          </a:p>
          <a:p>
            <a:pPr indent="0" marL="0">
              <a:spcAft>
                <a:spcPts val="800"/>
              </a:spcAft>
              <a:buNone/>
            </a:pPr>
            <a:r>
              <a:rPr lang="en-US" sz="2400" dirty="0">
                <a:solidFill>
                  <a:srgbClr val="242229"/>
                </a:solidFill>
                <a:latin typeface="Arial" pitchFamily="34" charset="0"/>
                <a:ea typeface="Arial" pitchFamily="34" charset="-122"/>
                <a:cs typeface="Arial" pitchFamily="34" charset="-120"/>
              </a:rPr>
              <a:t>Read the output.</a:t>
            </a:r>
            <a:endParaRPr lang="en-US" sz="2400" dirty="0"/>
          </a:p>
          <a:p>
            <a:pPr indent="0" marL="0">
              <a:spcAft>
                <a:spcPts val="800"/>
              </a:spcAft>
              <a:buNone/>
            </a:pPr>
            <a:r>
              <a:rPr lang="en-US" sz="2400" dirty="0">
                <a:solidFill>
                  <a:srgbClr val="242229"/>
                </a:solidFill>
                <a:latin typeface="Arial" pitchFamily="34" charset="0"/>
                <a:ea typeface="Arial" pitchFamily="34" charset="-122"/>
                <a:cs typeface="Arial" pitchFamily="34" charset="-120"/>
              </a:rPr>
              <a:t>Wait for the next prompt.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Read the prompt before typing</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2.1</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04</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SHELL PROMPTS</a:t>
            </a:r>
            <a:endParaRPr lang="en-US" sz="1400" dirty="0"/>
          </a:p>
        </p:txBody>
      </p:sp>
      <p:sp>
        <p:nvSpPr>
          <p:cNvPr id="9" name="Shape 6"/>
          <p:cNvSpPr/>
          <p:nvPr/>
        </p:nvSpPr>
        <p:spPr>
          <a:xfrm>
            <a:off x="548640" y="2286000"/>
            <a:ext cx="7406640" cy="164592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7004304" cy="1316736"/>
          </a:xfrm>
          <a:prstGeom prst="rect">
            <a:avLst/>
          </a:prstGeom>
          <a:noFill/>
          <a:ln/>
        </p:spPr>
        <p:txBody>
          <a:bodyPr wrap="square" lIns="0" tIns="0" rIns="0" bIns="0" rtlCol="0" anchor="t"/>
          <a:lstStyle/>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student@laptop stat303-setup %</a:t>
            </a:r>
            <a:endParaRPr lang="en-US" sz="2200" dirty="0"/>
          </a:p>
          <a:p>
            <a:pPr indent="0" marL="0">
              <a:spcAft>
                <a:spcPts val="800"/>
              </a:spcAft>
              <a:buNone/>
            </a:pP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PS C:\Users\student\stat303-setup&gt;</a:t>
            </a:r>
            <a:endParaRPr lang="en-US" sz="2200" dirty="0"/>
          </a:p>
        </p:txBody>
      </p:sp>
      <p:sp>
        <p:nvSpPr>
          <p:cNvPr id="11" name="Text 8"/>
          <p:cNvSpPr/>
          <p:nvPr/>
        </p:nvSpPr>
        <p:spPr>
          <a:xfrm>
            <a:off x="548640" y="425196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INTERACTIVE PYTHON</a:t>
            </a:r>
            <a:endParaRPr lang="en-US" sz="1400" dirty="0"/>
          </a:p>
        </p:txBody>
      </p:sp>
      <p:sp>
        <p:nvSpPr>
          <p:cNvPr id="12" name="Shape 9"/>
          <p:cNvSpPr/>
          <p:nvPr/>
        </p:nvSpPr>
        <p:spPr>
          <a:xfrm>
            <a:off x="548640" y="4663440"/>
            <a:ext cx="2011680" cy="731520"/>
          </a:xfrm>
          <a:prstGeom prst="rect">
            <a:avLst/>
          </a:prstGeom>
          <a:solidFill>
            <a:srgbClr val="F2F0F6"/>
          </a:solidFill>
          <a:ln w="12700">
            <a:solidFill>
              <a:srgbClr val="F2F0F6">
                <a:alpha val="0"/>
              </a:srgbClr>
            </a:solidFill>
            <a:prstDash val="solid"/>
          </a:ln>
        </p:spPr>
      </p:sp>
      <p:sp>
        <p:nvSpPr>
          <p:cNvPr id="13" name="Text 10"/>
          <p:cNvSpPr/>
          <p:nvPr/>
        </p:nvSpPr>
        <p:spPr>
          <a:xfrm>
            <a:off x="749808" y="4846320"/>
            <a:ext cx="1609344" cy="402336"/>
          </a:xfrm>
          <a:prstGeom prst="rect">
            <a:avLst/>
          </a:prstGeom>
          <a:noFill/>
          <a:ln/>
        </p:spPr>
        <p:txBody>
          <a:bodyPr wrap="square" lIns="0" tIns="0" rIns="0" bIns="0" rtlCol="0" anchor="t"/>
          <a:lstStyle/>
          <a:p>
            <a:pPr indent="0" marL="0">
              <a:spcAft>
                <a:spcPts val="800"/>
              </a:spcAft>
              <a:buNone/>
            </a:pPr>
            <a:r>
              <a:rPr lang="en-US" sz="2600" dirty="0">
                <a:solidFill>
                  <a:srgbClr val="401F68"/>
                </a:solidFill>
                <a:latin typeface="Courier New" pitchFamily="34" charset="0"/>
                <a:ea typeface="Courier New" pitchFamily="34" charset="-122"/>
                <a:cs typeface="Courier New" pitchFamily="34" charset="-120"/>
              </a:rPr>
              <a:t>&gt;&gt;&gt;</a:t>
            </a:r>
            <a:endParaRPr lang="en-US" sz="2600" dirty="0"/>
          </a:p>
        </p:txBody>
      </p:sp>
      <p:sp>
        <p:nvSpPr>
          <p:cNvPr id="14" name="Text 11"/>
          <p:cNvSpPr/>
          <p:nvPr/>
        </p:nvSpPr>
        <p:spPr>
          <a:xfrm>
            <a:off x="2926080" y="4800600"/>
            <a:ext cx="8046720" cy="548640"/>
          </a:xfrm>
          <a:prstGeom prst="rect">
            <a:avLst/>
          </a:prstGeom>
          <a:noFill/>
          <a:ln/>
        </p:spPr>
        <p:txBody>
          <a:bodyPr wrap="square" lIns="0" tIns="0" rIns="0" bIns="0" rtlCol="0" anchor="t"/>
          <a:lstStyle/>
          <a:p>
            <a:pPr indent="0" marL="0">
              <a:spcAft>
                <a:spcPts val="800"/>
              </a:spcAft>
              <a:buNone/>
            </a:pPr>
            <a:r>
              <a:rPr lang="en-US" sz="2400" dirty="0">
                <a:solidFill>
                  <a:srgbClr val="242229"/>
                </a:solidFill>
                <a:latin typeface="Arial" pitchFamily="34" charset="0"/>
                <a:ea typeface="Arial" pitchFamily="34" charset="-122"/>
                <a:cs typeface="Arial" pitchFamily="34" charset="-120"/>
              </a:rPr>
              <a:t>Use exit() to return to the shell.</a:t>
            </a:r>
            <a:endParaRPr lang="en-US" sz="2400" dirty="0"/>
          </a:p>
        </p:txBody>
      </p:sp>
      <p:sp>
        <p:nvSpPr>
          <p:cNvPr id="15" name="Text 12"/>
          <p:cNvSpPr/>
          <p:nvPr/>
        </p:nvSpPr>
        <p:spPr>
          <a:xfrm>
            <a:off x="8366760" y="2468880"/>
            <a:ext cx="3108960" cy="1645920"/>
          </a:xfrm>
          <a:prstGeom prst="rect">
            <a:avLst/>
          </a:prstGeom>
          <a:noFill/>
          <a:ln/>
        </p:spPr>
        <p:txBody>
          <a:bodyPr wrap="square" lIns="0" tIns="0" rIns="0" bIns="0" rtlCol="0" anchor="t"/>
          <a:lstStyle/>
          <a:p>
            <a:pPr indent="0" marL="0">
              <a:spcAft>
                <a:spcPts val="800"/>
              </a:spcAft>
              <a:buNone/>
            </a:pPr>
            <a:r>
              <a:rPr lang="en-US" sz="2300" dirty="0">
                <a:solidFill>
                  <a:srgbClr val="242229"/>
                </a:solidFill>
                <a:latin typeface="Arial" pitchFamily="34" charset="0"/>
                <a:ea typeface="Arial" pitchFamily="34" charset="-122"/>
                <a:cs typeface="Arial" pitchFamily="34" charset="-120"/>
              </a:rPr>
              <a:t>Type after the prompt.</a:t>
            </a:r>
            <a:endParaRPr lang="en-US" sz="2300" dirty="0"/>
          </a:p>
          <a:p>
            <a:pPr indent="0" marL="0">
              <a:spcAft>
                <a:spcPts val="800"/>
              </a:spcAft>
              <a:buNone/>
            </a:pPr>
            <a:r>
              <a:rPr lang="en-US" sz="2300" dirty="0">
                <a:solidFill>
                  <a:srgbClr val="242229"/>
                </a:solidFill>
                <a:latin typeface="Arial" pitchFamily="34" charset="0"/>
                <a:ea typeface="Arial" pitchFamily="34" charset="-122"/>
                <a:cs typeface="Arial" pitchFamily="34" charset="-120"/>
              </a:rPr>
              <a:t>Do not copy it.</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Navigate with the commands for your shell</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2.3</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286000"/>
                <a:gridCol w="2926080"/>
                <a:gridCol w="2926080"/>
                <a:gridCol w="2926080"/>
              </a:tblGrid>
              <a:tr h="594360">
                <a:tc>
                  <a:txBody>
                    <a:bodyPr/>
                    <a:lstStyle/>
                    <a:p>
                      <a:pPr indent="0" marL="0">
                        <a:buNone/>
                      </a:pPr>
                      <a:r>
                        <a:rPr lang="en-US" sz="1900" b="1" dirty="0">
                          <a:solidFill>
                            <a:srgbClr val="242229"/>
                          </a:solidFill>
                          <a:latin typeface="Arial" pitchFamily="34" charset="0"/>
                          <a:ea typeface="Arial" pitchFamily="34" charset="-122"/>
                          <a:cs typeface="Arial" pitchFamily="34" charset="-120"/>
                        </a:rPr>
                        <a:t>Action</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c>
                  <a:txBody>
                    <a:bodyPr/>
                    <a:lstStyle/>
                    <a:p>
                      <a:pPr indent="0" marL="0">
                        <a:buNone/>
                      </a:pPr>
                      <a:r>
                        <a:rPr lang="en-US" sz="1900" b="1" dirty="0">
                          <a:solidFill>
                            <a:srgbClr val="242229"/>
                          </a:solidFill>
                          <a:latin typeface="Arial" pitchFamily="34" charset="0"/>
                          <a:ea typeface="Arial" pitchFamily="34" charset="-122"/>
                          <a:cs typeface="Arial" pitchFamily="34" charset="-120"/>
                        </a:rPr>
                        <a:t>macOS: zsh / Bash</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c>
                  <a:txBody>
                    <a:bodyPr/>
                    <a:lstStyle/>
                    <a:p>
                      <a:pPr indent="0" marL="0">
                        <a:buNone/>
                      </a:pPr>
                      <a:r>
                        <a:rPr lang="en-US" sz="1900" b="1" dirty="0">
                          <a:solidFill>
                            <a:srgbClr val="242229"/>
                          </a:solidFill>
                          <a:latin typeface="Arial" pitchFamily="34" charset="0"/>
                          <a:ea typeface="Arial" pitchFamily="34" charset="-122"/>
                          <a:cs typeface="Arial" pitchFamily="34" charset="-120"/>
                        </a:rPr>
                        <a:t>PowerShell</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c>
                  <a:txBody>
                    <a:bodyPr/>
                    <a:lstStyle/>
                    <a:p>
                      <a:pPr indent="0" marL="0">
                        <a:buNone/>
                      </a:pPr>
                      <a:r>
                        <a:rPr lang="en-US" sz="1900" b="1" dirty="0">
                          <a:solidFill>
                            <a:srgbClr val="242229"/>
                          </a:solidFill>
                          <a:latin typeface="Arial" pitchFamily="34" charset="0"/>
                          <a:ea typeface="Arial" pitchFamily="34" charset="-122"/>
                          <a:cs typeface="Arial" pitchFamily="34" charset="-120"/>
                        </a:rPr>
                        <a:t>Command Prompt</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r>
              <a:tr h="594360">
                <a:tc>
                  <a:txBody>
                    <a:bodyPr/>
                    <a:lstStyle/>
                    <a:p>
                      <a:pPr indent="0" marL="0">
                        <a:buNone/>
                      </a:pPr>
                      <a:r>
                        <a:rPr lang="en-US" sz="1900" dirty="0">
                          <a:solidFill>
                            <a:srgbClr val="242229"/>
                          </a:solidFill>
                          <a:latin typeface="Arial" pitchFamily="34" charset="0"/>
                          <a:ea typeface="Arial" pitchFamily="34" charset="-122"/>
                          <a:cs typeface="Arial" pitchFamily="34" charset="-120"/>
                        </a:rPr>
                        <a:t>Show current folder</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pwd</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Get-Location</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cd</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900" dirty="0">
                          <a:solidFill>
                            <a:srgbClr val="242229"/>
                          </a:solidFill>
                          <a:latin typeface="Arial" pitchFamily="34" charset="0"/>
                          <a:ea typeface="Arial" pitchFamily="34" charset="-122"/>
                          <a:cs typeface="Arial" pitchFamily="34" charset="-120"/>
                        </a:rPr>
                        <a:t>List contents</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ls</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Get-ChildItem</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dir</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900" dirty="0">
                          <a:solidFill>
                            <a:srgbClr val="242229"/>
                          </a:solidFill>
                          <a:latin typeface="Arial" pitchFamily="34" charset="0"/>
                          <a:ea typeface="Arial" pitchFamily="34" charset="-122"/>
                          <a:cs typeface="Arial" pitchFamily="34" charset="-120"/>
                        </a:rPr>
                        <a:t>Enter data</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cd data</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cd data</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cd data</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900" dirty="0">
                          <a:solidFill>
                            <a:srgbClr val="242229"/>
                          </a:solidFill>
                          <a:latin typeface="Arial" pitchFamily="34" charset="0"/>
                          <a:ea typeface="Arial" pitchFamily="34" charset="-122"/>
                          <a:cs typeface="Arial" pitchFamily="34" charset="-120"/>
                        </a:rPr>
                        <a:t>Go to parent</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cd ..</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cd ..</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cd ..</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5486400"/>
            <a:ext cx="11064240" cy="594360"/>
          </a:xfrm>
          <a:prstGeom prst="rect">
            <a:avLst/>
          </a:prstGeom>
          <a:noFill/>
          <a:ln/>
        </p:spPr>
        <p:txBody>
          <a:bodyPr wrap="square" lIns="0" tIns="0" rIns="0" bIns="0" rtlCol="0" anchor="t"/>
          <a:lstStyle/>
          <a:p>
            <a:pPr indent="0" marL="0">
              <a:spcAft>
                <a:spcPts val="800"/>
              </a:spcAft>
              <a:buNone/>
            </a:pPr>
            <a:r>
              <a:rPr lang="en-US" sz="2300" dirty="0">
                <a:solidFill>
                  <a:srgbClr val="242229"/>
                </a:solidFill>
                <a:latin typeface="Arial" pitchFamily="34" charset="0"/>
                <a:ea typeface="Arial" pitchFamily="34" charset="-122"/>
                <a:cs typeface="Arial" pitchFamily="34" charset="-120"/>
              </a:rPr>
              <a:t>Try it: inspect → enter data → list files → return with cd ..</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Ask three questions before a command</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2.4</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06</a:t>
            </a:r>
            <a:endParaRPr lang="en-US" sz="1100" dirty="0"/>
          </a:p>
        </p:txBody>
      </p:sp>
      <p:sp>
        <p:nvSpPr>
          <p:cNvPr id="8" name="Text 5"/>
          <p:cNvSpPr/>
          <p:nvPr/>
        </p:nvSpPr>
        <p:spPr>
          <a:xfrm>
            <a:off x="548640" y="18288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01</a:t>
            </a:r>
            <a:endParaRPr lang="en-US" sz="3600" dirty="0"/>
          </a:p>
        </p:txBody>
      </p:sp>
      <p:sp>
        <p:nvSpPr>
          <p:cNvPr id="9" name="Text 6"/>
          <p:cNvSpPr/>
          <p:nvPr/>
        </p:nvSpPr>
        <p:spPr>
          <a:xfrm>
            <a:off x="1463040" y="1828800"/>
            <a:ext cx="987552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Where am I typing?</a:t>
            </a:r>
            <a:endParaRPr lang="en-US" sz="2300" dirty="0"/>
          </a:p>
        </p:txBody>
      </p:sp>
      <p:sp>
        <p:nvSpPr>
          <p:cNvPr id="10" name="Text 7"/>
          <p:cNvSpPr/>
          <p:nvPr/>
        </p:nvSpPr>
        <p:spPr>
          <a:xfrm>
            <a:off x="1463040" y="2423160"/>
            <a:ext cx="987552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Notebook code cell, shell, or interactive Python?</a:t>
            </a:r>
            <a:endParaRPr lang="en-US" sz="2000" dirty="0"/>
          </a:p>
        </p:txBody>
      </p:sp>
      <p:sp>
        <p:nvSpPr>
          <p:cNvPr id="11" name="Text 8"/>
          <p:cNvSpPr/>
          <p:nvPr/>
        </p:nvSpPr>
        <p:spPr>
          <a:xfrm>
            <a:off x="548640" y="32004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02</a:t>
            </a:r>
            <a:endParaRPr lang="en-US" sz="3600" dirty="0"/>
          </a:p>
        </p:txBody>
      </p:sp>
      <p:sp>
        <p:nvSpPr>
          <p:cNvPr id="12" name="Text 9"/>
          <p:cNvSpPr/>
          <p:nvPr/>
        </p:nvSpPr>
        <p:spPr>
          <a:xfrm>
            <a:off x="1463040" y="3200400"/>
            <a:ext cx="987552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Which Python am I using?</a:t>
            </a:r>
            <a:endParaRPr lang="en-US" sz="2300" dirty="0"/>
          </a:p>
        </p:txBody>
      </p:sp>
      <p:sp>
        <p:nvSpPr>
          <p:cNvPr id="13" name="Text 10"/>
          <p:cNvSpPr/>
          <p:nvPr/>
        </p:nvSpPr>
        <p:spPr>
          <a:xfrm>
            <a:off x="1463040" y="3794760"/>
            <a:ext cx="987552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Check sys.executable in the notebook and terminal.</a:t>
            </a:r>
            <a:endParaRPr lang="en-US" sz="2000" dirty="0"/>
          </a:p>
        </p:txBody>
      </p:sp>
      <p:sp>
        <p:nvSpPr>
          <p:cNvPr id="14" name="Text 11"/>
          <p:cNvSpPr/>
          <p:nvPr/>
        </p:nvSpPr>
        <p:spPr>
          <a:xfrm>
            <a:off x="548640" y="45720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03</a:t>
            </a:r>
            <a:endParaRPr lang="en-US" sz="3600" dirty="0"/>
          </a:p>
        </p:txBody>
      </p:sp>
      <p:sp>
        <p:nvSpPr>
          <p:cNvPr id="15" name="Text 12"/>
          <p:cNvSpPr/>
          <p:nvPr/>
        </p:nvSpPr>
        <p:spPr>
          <a:xfrm>
            <a:off x="1463040" y="4572000"/>
            <a:ext cx="987552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Which folder is current?</a:t>
            </a:r>
            <a:endParaRPr lang="en-US" sz="2300" dirty="0"/>
          </a:p>
        </p:txBody>
      </p:sp>
      <p:sp>
        <p:nvSpPr>
          <p:cNvPr id="16" name="Text 13"/>
          <p:cNvSpPr/>
          <p:nvPr/>
        </p:nvSpPr>
        <p:spPr>
          <a:xfrm>
            <a:off x="1463040" y="5166360"/>
            <a:ext cx="987552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Check the working directory in each place.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Give each project its own environment</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2.5</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07</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PROJECT A</a:t>
            </a:r>
            <a:endParaRPr lang="en-US" sz="1400" dirty="0"/>
          </a:p>
        </p:txBody>
      </p:sp>
      <p:sp>
        <p:nvSpPr>
          <p:cNvPr id="9" name="Shape 6"/>
          <p:cNvSpPr/>
          <p:nvPr/>
        </p:nvSpPr>
        <p:spPr>
          <a:xfrm>
            <a:off x="548640" y="2286000"/>
            <a:ext cx="5212080" cy="13716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4809744" cy="10424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Python 3.11</a:t>
            </a:r>
            <a:endParaRPr lang="en-US" sz="2300" dirty="0"/>
          </a:p>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Shared library: version 1</a:t>
            </a:r>
            <a:endParaRPr lang="en-US" sz="2300" dirty="0"/>
          </a:p>
        </p:txBody>
      </p:sp>
      <p:sp>
        <p:nvSpPr>
          <p:cNvPr id="11" name="Text 8"/>
          <p:cNvSpPr/>
          <p:nvPr/>
        </p:nvSpPr>
        <p:spPr>
          <a:xfrm>
            <a:off x="644652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PROJECT B</a:t>
            </a:r>
            <a:endParaRPr lang="en-US" sz="1400" dirty="0"/>
          </a:p>
        </p:txBody>
      </p:sp>
      <p:sp>
        <p:nvSpPr>
          <p:cNvPr id="12" name="Shape 9"/>
          <p:cNvSpPr/>
          <p:nvPr/>
        </p:nvSpPr>
        <p:spPr>
          <a:xfrm>
            <a:off x="6446520" y="2286000"/>
            <a:ext cx="5212080" cy="1371600"/>
          </a:xfrm>
          <a:prstGeom prst="rect">
            <a:avLst/>
          </a:prstGeom>
          <a:solidFill>
            <a:srgbClr val="F2F0F6"/>
          </a:solidFill>
          <a:ln w="12700">
            <a:solidFill>
              <a:srgbClr val="F2F0F6">
                <a:alpha val="0"/>
              </a:srgbClr>
            </a:solidFill>
            <a:prstDash val="solid"/>
          </a:ln>
        </p:spPr>
      </p:sp>
      <p:sp>
        <p:nvSpPr>
          <p:cNvPr id="13" name="Text 10"/>
          <p:cNvSpPr/>
          <p:nvPr/>
        </p:nvSpPr>
        <p:spPr>
          <a:xfrm>
            <a:off x="6647688" y="2468880"/>
            <a:ext cx="4809744" cy="10424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Python 3.12</a:t>
            </a:r>
            <a:endParaRPr lang="en-US" sz="2300" dirty="0"/>
          </a:p>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Shared library: version 2</a:t>
            </a:r>
            <a:endParaRPr lang="en-US" sz="2300" dirty="0"/>
          </a:p>
        </p:txBody>
      </p:sp>
      <p:sp>
        <p:nvSpPr>
          <p:cNvPr id="14" name="Text 11"/>
          <p:cNvSpPr/>
          <p:nvPr/>
        </p:nvSpPr>
        <p:spPr>
          <a:xfrm>
            <a:off x="548640" y="4297680"/>
            <a:ext cx="10972800" cy="914400"/>
          </a:xfrm>
          <a:prstGeom prst="rect">
            <a:avLst/>
          </a:prstGeom>
          <a:noFill/>
          <a:ln/>
        </p:spPr>
        <p:txBody>
          <a:bodyPr wrap="square" lIns="0" tIns="0" rIns="0" bIns="0" rtlCol="0" anchor="t"/>
          <a:lstStyle/>
          <a:p>
            <a:pPr indent="0" marL="0">
              <a:spcAft>
                <a:spcPts val="800"/>
              </a:spcAft>
              <a:buNone/>
            </a:pPr>
            <a:r>
              <a:rPr lang="en-US" sz="3000" dirty="0">
                <a:solidFill>
                  <a:srgbClr val="242229"/>
                </a:solidFill>
                <a:latin typeface="Arial" pitchFamily="34" charset="0"/>
                <a:ea typeface="Arial" pitchFamily="34" charset="-122"/>
                <a:cs typeface="Arial" pitchFamily="34" charset="-120"/>
              </a:rPr>
              <a:t>Each project keeps its own package set.</a:t>
            </a:r>
            <a:endParaRPr lang="en-US" sz="3000" dirty="0"/>
          </a:p>
        </p:txBody>
      </p:sp>
      <p:sp>
        <p:nvSpPr>
          <p:cNvPr id="15" name="Text 12"/>
          <p:cNvSpPr/>
          <p:nvPr/>
        </p:nvSpPr>
        <p:spPr>
          <a:xfrm>
            <a:off x="548640" y="5303520"/>
            <a:ext cx="10972800" cy="640080"/>
          </a:xfrm>
          <a:prstGeom prst="rect">
            <a:avLst/>
          </a:prstGeom>
          <a:noFill/>
          <a:ln/>
        </p:spPr>
        <p:txBody>
          <a:bodyPr wrap="square" lIns="0" tIns="0" rIns="0" bIns="0" rtlCol="0" anchor="t"/>
          <a:lstStyle/>
          <a:p>
            <a:pPr indent="0" marL="0">
              <a:spcAft>
                <a:spcPts val="800"/>
              </a:spcAft>
              <a:buNone/>
            </a:pPr>
            <a:r>
              <a:rPr lang="en-US" sz="2200" dirty="0">
                <a:solidFill>
                  <a:srgbClr val="242229"/>
                </a:solidFill>
                <a:latin typeface="Arial" pitchFamily="34" charset="0"/>
                <a:ea typeface="Arial" pitchFamily="34" charset="-122"/>
                <a:cs typeface="Arial" pitchFamily="34" charset="-120"/>
              </a:rPr>
              <a:t>For STAT303, the practice notebooks share one project .venv.</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Create .venv from the notebook</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2.6 · GUI METHOD</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08</a:t>
            </a:r>
            <a:endParaRPr lang="en-US" sz="1100" dirty="0"/>
          </a:p>
        </p:txBody>
      </p:sp>
      <p:pic>
        <p:nvPicPr>
          <p:cNvPr id="8" name="Image 0" descr="/Users/lizhenshi/mydev/nu-stat303-1-sec20-coursebook-clean/images/vscode-create-venv-gui.png">    </p:cNvPr>
          <p:cNvPicPr>
            <a:picLocks noChangeAspect="1"/>
          </p:cNvPicPr>
          <p:nvPr/>
        </p:nvPicPr>
        <p:blipFill>
          <a:blip r:embed="rId1"/>
          <a:stretch>
            <a:fillRect/>
          </a:stretch>
        </p:blipFill>
        <p:spPr>
          <a:xfrm>
            <a:off x="1546829" y="1737360"/>
            <a:ext cx="9067863" cy="3063240"/>
          </a:xfrm>
          <a:prstGeom prst="rect">
            <a:avLst/>
          </a:prstGeom>
        </p:spPr>
      </p:pic>
      <p:sp>
        <p:nvSpPr>
          <p:cNvPr id="9" name="Text 5"/>
          <p:cNvSpPr/>
          <p:nvPr/>
        </p:nvSpPr>
        <p:spPr>
          <a:xfrm>
            <a:off x="548640" y="5074920"/>
            <a:ext cx="11064240" cy="594360"/>
          </a:xfrm>
          <a:prstGeom prst="rect">
            <a:avLst/>
          </a:prstGeom>
          <a:noFill/>
          <a:ln/>
        </p:spPr>
        <p:txBody>
          <a:bodyPr wrap="square" lIns="0" tIns="0" rIns="0" bIns="0" rtlCol="0" anchor="t"/>
          <a:lstStyle/>
          <a:p>
            <a:pPr indent="0" marL="0">
              <a:spcAft>
                <a:spcPts val="800"/>
              </a:spcAft>
              <a:buNone/>
            </a:pPr>
            <a:r>
              <a:rPr lang="en-US" sz="2200" dirty="0">
                <a:solidFill>
                  <a:srgbClr val="242229"/>
                </a:solidFill>
                <a:latin typeface="Arial" pitchFamily="34" charset="0"/>
                <a:ea typeface="Arial" pitchFamily="34" charset="-122"/>
                <a:cs typeface="Arial" pitchFamily="34" charset="-120"/>
              </a:rPr>
              <a:t>Select Kernel → Python Environments → Create Python Environment</a:t>
            </a:r>
            <a:endParaRPr lang="en-US" sz="2200" dirty="0"/>
          </a:p>
        </p:txBody>
      </p:sp>
      <p:sp>
        <p:nvSpPr>
          <p:cNvPr id="10" name="Text 6"/>
          <p:cNvSpPr/>
          <p:nvPr/>
        </p:nvSpPr>
        <p:spPr>
          <a:xfrm>
            <a:off x="548640" y="5715000"/>
            <a:ext cx="11064240" cy="457200"/>
          </a:xfrm>
          <a:prstGeom prst="rect">
            <a:avLst/>
          </a:prstGeom>
          <a:noFill/>
          <a:ln/>
        </p:spPr>
        <p:txBody>
          <a:bodyPr wrap="square" lIns="0" tIns="0" rIns="0" bIns="0" rtlCol="0" anchor="t"/>
          <a:lstStyle/>
          <a:p>
            <a:pPr indent="0" marL="0">
              <a:spcAft>
                <a:spcPts val="800"/>
              </a:spcAft>
              <a:buNone/>
            </a:pPr>
            <a:r>
              <a:rPr lang="en-US" sz="2000" dirty="0">
                <a:solidFill>
                  <a:srgbClr val="242229"/>
                </a:solidFill>
                <a:latin typeface="Arial" pitchFamily="34" charset="0"/>
                <a:ea typeface="Arial" pitchFamily="34" charset="-122"/>
                <a:cs typeface="Arial" pitchFamily="34" charset="-120"/>
              </a:rPr>
              <a:t>Choose Venv, then the working Python installation from Chapter 1.</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Or create .venv in the terminal</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2.6 · TERMINAL METHOD</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09</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START IN stat303-setup</a:t>
            </a:r>
            <a:endParaRPr lang="en-US" sz="1400" dirty="0"/>
          </a:p>
        </p:txBody>
      </p:sp>
      <p:sp>
        <p:nvSpPr>
          <p:cNvPr id="9" name="Shape 6"/>
          <p:cNvSpPr/>
          <p:nvPr/>
        </p:nvSpPr>
        <p:spPr>
          <a:xfrm>
            <a:off x="548640" y="2286000"/>
            <a:ext cx="11064240" cy="18288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10661904" cy="1499616"/>
          </a:xfrm>
          <a:prstGeom prst="rect">
            <a:avLst/>
          </a:prstGeom>
          <a:noFill/>
          <a:ln/>
        </p:spPr>
        <p:txBody>
          <a:bodyPr wrap="square" lIns="0" tIns="0" rIns="0" bIns="0" rtlCol="0" anchor="t"/>
          <a:lstStyle/>
          <a:p>
            <a:pPr indent="0" marL="0">
              <a:spcAft>
                <a:spcPts val="800"/>
              </a:spcAft>
              <a:buNone/>
            </a:pPr>
            <a:r>
              <a:rPr lang="en-US" sz="2400" dirty="0">
                <a:solidFill>
                  <a:srgbClr val="401F68"/>
                </a:solidFill>
                <a:latin typeface="Courier New" pitchFamily="34" charset="0"/>
                <a:ea typeface="Courier New" pitchFamily="34" charset="-122"/>
                <a:cs typeface="Courier New" pitchFamily="34" charset="-120"/>
              </a:rPr>
              <a:t>python -c "import sys; print(sys.executable)"</a:t>
            </a:r>
            <a:endParaRPr lang="en-US" sz="2400" dirty="0"/>
          </a:p>
          <a:p>
            <a:pPr indent="0" marL="0">
              <a:spcAft>
                <a:spcPts val="800"/>
              </a:spcAft>
              <a:buNone/>
            </a:pPr>
            <a:endParaRPr lang="en-US" sz="2400" dirty="0"/>
          </a:p>
          <a:p>
            <a:pPr indent="0" marL="0">
              <a:spcAft>
                <a:spcPts val="800"/>
              </a:spcAft>
              <a:buNone/>
            </a:pPr>
            <a:r>
              <a:rPr lang="en-US" sz="2400" dirty="0">
                <a:solidFill>
                  <a:srgbClr val="401F68"/>
                </a:solidFill>
                <a:latin typeface="Courier New" pitchFamily="34" charset="0"/>
                <a:ea typeface="Courier New" pitchFamily="34" charset="-122"/>
                <a:cs typeface="Courier New" pitchFamily="34" charset="-120"/>
              </a:rPr>
              <a:t>python -m venv .venv</a:t>
            </a:r>
            <a:endParaRPr lang="en-US" sz="2400" dirty="0"/>
          </a:p>
        </p:txBody>
      </p:sp>
      <p:sp>
        <p:nvSpPr>
          <p:cNvPr id="11" name="Text 8"/>
          <p:cNvSpPr/>
          <p:nvPr/>
        </p:nvSpPr>
        <p:spPr>
          <a:xfrm>
            <a:off x="548640" y="4617720"/>
            <a:ext cx="10972800" cy="685800"/>
          </a:xfrm>
          <a:prstGeom prst="rect">
            <a:avLst/>
          </a:prstGeom>
          <a:noFill/>
          <a:ln/>
        </p:spPr>
        <p:txBody>
          <a:bodyPr wrap="square" lIns="0" tIns="0" rIns="0" bIns="0" rtlCol="0" anchor="t"/>
          <a:lstStyle/>
          <a:p>
            <a:pPr indent="0" marL="0">
              <a:spcAft>
                <a:spcPts val="800"/>
              </a:spcAft>
              <a:buNone/>
            </a:pPr>
            <a:r>
              <a:rPr lang="en-US" sz="2500" dirty="0">
                <a:solidFill>
                  <a:srgbClr val="242229"/>
                </a:solidFill>
                <a:latin typeface="Arial" pitchFamily="34" charset="0"/>
                <a:ea typeface="Arial" pitchFamily="34" charset="-122"/>
                <a:cs typeface="Arial" pitchFamily="34" charset="-120"/>
              </a:rPr>
              <a:t>Then select the new .venv in the notebook kernel picker.</a:t>
            </a:r>
            <a:endParaRPr lang="en-US" sz="2500" dirty="0"/>
          </a:p>
        </p:txBody>
      </p:sp>
      <p:sp>
        <p:nvSpPr>
          <p:cNvPr id="12" name="Text 9"/>
          <p:cNvSpPr/>
          <p:nvPr/>
        </p:nvSpPr>
        <p:spPr>
          <a:xfrm>
            <a:off x="548640" y="5577840"/>
            <a:ext cx="10972800" cy="457200"/>
          </a:xfrm>
          <a:prstGeom prst="rect">
            <a:avLst/>
          </a:prstGeom>
          <a:noFill/>
          <a:ln/>
        </p:spPr>
        <p:txBody>
          <a:bodyPr wrap="square" lIns="0" tIns="0" rIns="0" bIns="0" rtlCol="0" anchor="t"/>
          <a:lstStyle/>
          <a:p>
            <a:pPr indent="0" marL="0">
              <a:spcAft>
                <a:spcPts val="800"/>
              </a:spcAft>
              <a:buNone/>
            </a:pPr>
            <a:r>
              <a:rPr lang="en-US" sz="1900" dirty="0">
                <a:solidFill>
                  <a:srgbClr val="242229"/>
                </a:solidFill>
                <a:latin typeface="Arial" pitchFamily="34" charset="0"/>
                <a:ea typeface="Arial" pitchFamily="34" charset="-122"/>
                <a:cs typeface="Arial" pitchFamily="34" charset="-120"/>
              </a:rPr>
              <a:t>macOS: use python3 in both commands if python is unavailable.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Activate the terminal environment</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2.6</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10</a:t>
            </a:r>
            <a:endParaRPr lang="en-US" sz="1100" dirty="0"/>
          </a:p>
        </p:txBody>
      </p:sp>
      <p:pic>
        <p:nvPicPr>
          <p:cNvPr id="8" name="Image 0" descr="/Users/lizhenshi/mydev/nu-stat303-1-sec20-coursebook-clean/images/vscode-venv-terminal-active.png">    </p:cNvPr>
          <p:cNvPicPr>
            <a:picLocks noChangeAspect="1"/>
          </p:cNvPicPr>
          <p:nvPr/>
        </p:nvPicPr>
        <p:blipFill>
          <a:blip r:embed="rId1"/>
          <a:stretch>
            <a:fillRect/>
          </a:stretch>
        </p:blipFill>
        <p:spPr>
          <a:xfrm>
            <a:off x="3070177" y="1645920"/>
            <a:ext cx="6021166" cy="201168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64240" cy="914400"/>
        </p:xfrm>
        <a:graphic>
          <a:graphicData uri="http://schemas.openxmlformats.org/drawingml/2006/table">
            <a:tbl>
              <a:tblPr/>
              <a:tblGrid>
                <a:gridCol w="3657600"/>
                <a:gridCol w="7406640"/>
              </a:tblGrid>
              <a:tr h="594360">
                <a:tc>
                  <a:txBody>
                    <a:bodyPr/>
                    <a:lstStyle/>
                    <a:p>
                      <a:pPr indent="0" marL="0">
                        <a:buNone/>
                      </a:pPr>
                      <a:r>
                        <a:rPr lang="en-US" sz="1900" b="1" dirty="0">
                          <a:solidFill>
                            <a:srgbClr val="242229"/>
                          </a:solidFill>
                          <a:latin typeface="Arial" pitchFamily="34" charset="0"/>
                          <a:ea typeface="Arial" pitchFamily="34" charset="-122"/>
                          <a:cs typeface="Arial" pitchFamily="34" charset="-120"/>
                        </a:rPr>
                        <a:t>Shell</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c>
                  <a:txBody>
                    <a:bodyPr/>
                    <a:lstStyle/>
                    <a:p>
                      <a:pPr indent="0" marL="0">
                        <a:buNone/>
                      </a:pPr>
                      <a:r>
                        <a:rPr lang="en-US" sz="1900" b="1" dirty="0">
                          <a:solidFill>
                            <a:srgbClr val="242229"/>
                          </a:solidFill>
                          <a:latin typeface="Arial" pitchFamily="34" charset="0"/>
                          <a:ea typeface="Arial" pitchFamily="34" charset="-122"/>
                          <a:cs typeface="Arial" pitchFamily="34" charset="-120"/>
                        </a:rPr>
                        <a:t>Activation command</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r>
              <a:tr h="594360">
                <a:tc>
                  <a:txBody>
                    <a:bodyPr/>
                    <a:lstStyle/>
                    <a:p>
                      <a:pPr indent="0" marL="0">
                        <a:buNone/>
                      </a:pPr>
                      <a:r>
                        <a:rPr lang="en-US" sz="1900" dirty="0">
                          <a:solidFill>
                            <a:srgbClr val="242229"/>
                          </a:solidFill>
                          <a:latin typeface="Arial" pitchFamily="34" charset="0"/>
                          <a:ea typeface="Arial" pitchFamily="34" charset="-122"/>
                          <a:cs typeface="Arial" pitchFamily="34" charset="-120"/>
                        </a:rPr>
                        <a:t>macOS: zsh / Bash</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source .venv/bin/activate</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900" dirty="0">
                          <a:solidFill>
                            <a:srgbClr val="242229"/>
                          </a:solidFill>
                          <a:latin typeface="Arial" pitchFamily="34" charset="0"/>
                          <a:ea typeface="Arial" pitchFamily="34" charset="-122"/>
                          <a:cs typeface="Arial" pitchFamily="34" charset="-120"/>
                        </a:rPr>
                        <a:t>Windows PowerShell</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.\.venv\Scripts\Activate.ps1</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900" dirty="0">
                          <a:solidFill>
                            <a:srgbClr val="242229"/>
                          </a:solidFill>
                          <a:latin typeface="Arial" pitchFamily="34" charset="0"/>
                          <a:ea typeface="Arial" pitchFamily="34" charset="-122"/>
                          <a:cs typeface="Arial" pitchFamily="34" charset="-120"/>
                        </a:rPr>
                        <a:t>Windows Command Prompt</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900" dirty="0">
                          <a:solidFill>
                            <a:srgbClr val="242229"/>
                          </a:solidFill>
                          <a:latin typeface="Arial" pitchFamily="34" charset="0"/>
                          <a:ea typeface="Arial" pitchFamily="34" charset="-122"/>
                          <a:cs typeface="Arial" pitchFamily="34" charset="-120"/>
                        </a:rPr>
                        <a:t>.venv\Scripts\activate.bat</a:t>
                      </a:r>
                      <a:endParaRPr lang="en-US" sz="19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Verify Python in both places</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2.6</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11</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TERMINAL</a:t>
            </a:r>
            <a:endParaRPr lang="en-US" sz="1400" dirty="0"/>
          </a:p>
        </p:txBody>
      </p:sp>
      <p:sp>
        <p:nvSpPr>
          <p:cNvPr id="9" name="Shape 6"/>
          <p:cNvSpPr/>
          <p:nvPr/>
        </p:nvSpPr>
        <p:spPr>
          <a:xfrm>
            <a:off x="548640" y="2286000"/>
            <a:ext cx="11064240" cy="9144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10661904" cy="5852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python -c "import sys; print(sys.executable)"</a:t>
            </a:r>
            <a:endParaRPr lang="en-US" sz="2300" dirty="0"/>
          </a:p>
        </p:txBody>
      </p:sp>
      <p:sp>
        <p:nvSpPr>
          <p:cNvPr id="11" name="Text 8"/>
          <p:cNvSpPr/>
          <p:nvPr/>
        </p:nvSpPr>
        <p:spPr>
          <a:xfrm>
            <a:off x="548640" y="36576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NOTEBOOK CODE CELL</a:t>
            </a:r>
            <a:endParaRPr lang="en-US" sz="1400" dirty="0"/>
          </a:p>
        </p:txBody>
      </p:sp>
      <p:sp>
        <p:nvSpPr>
          <p:cNvPr id="12" name="Shape 9"/>
          <p:cNvSpPr/>
          <p:nvPr/>
        </p:nvSpPr>
        <p:spPr>
          <a:xfrm>
            <a:off x="548640" y="4114800"/>
            <a:ext cx="6492240" cy="1280160"/>
          </a:xfrm>
          <a:prstGeom prst="rect">
            <a:avLst/>
          </a:prstGeom>
          <a:solidFill>
            <a:srgbClr val="F2F0F6"/>
          </a:solidFill>
          <a:ln w="12700">
            <a:solidFill>
              <a:srgbClr val="F2F0F6">
                <a:alpha val="0"/>
              </a:srgbClr>
            </a:solidFill>
            <a:prstDash val="solid"/>
          </a:ln>
        </p:spPr>
      </p:sp>
      <p:sp>
        <p:nvSpPr>
          <p:cNvPr id="13" name="Text 10"/>
          <p:cNvSpPr/>
          <p:nvPr/>
        </p:nvSpPr>
        <p:spPr>
          <a:xfrm>
            <a:off x="749808" y="4297680"/>
            <a:ext cx="6089904" cy="95097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import sys</a:t>
            </a:r>
            <a:endParaRPr lang="en-US" sz="2300" dirty="0"/>
          </a:p>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print(sys.executable)</a:t>
            </a:r>
            <a:endParaRPr lang="en-US" sz="2300" dirty="0"/>
          </a:p>
        </p:txBody>
      </p:sp>
      <p:sp>
        <p:nvSpPr>
          <p:cNvPr id="14" name="Text 11"/>
          <p:cNvSpPr/>
          <p:nvPr/>
        </p:nvSpPr>
        <p:spPr>
          <a:xfrm>
            <a:off x="7498080" y="4206240"/>
            <a:ext cx="4023360" cy="1280160"/>
          </a:xfrm>
          <a:prstGeom prst="rect">
            <a:avLst/>
          </a:prstGeom>
          <a:noFill/>
          <a:ln/>
        </p:spPr>
        <p:txBody>
          <a:bodyPr wrap="square" lIns="0" tIns="0" rIns="0" bIns="0" rtlCol="0" anchor="t"/>
          <a:lstStyle/>
          <a:p>
            <a:pPr indent="0" marL="0">
              <a:spcAft>
                <a:spcPts val="800"/>
              </a:spcAft>
              <a:buNone/>
            </a:pPr>
            <a:r>
              <a:rPr lang="en-US" sz="2800" dirty="0">
                <a:solidFill>
                  <a:srgbClr val="242229"/>
                </a:solidFill>
                <a:latin typeface="Arial" pitchFamily="34" charset="0"/>
                <a:ea typeface="Arial" pitchFamily="34" charset="-122"/>
                <a:cs typeface="Arial" pitchFamily="34" charset="-120"/>
              </a:rPr>
              <a:t>The same project.</a:t>
            </a:r>
            <a:endParaRPr lang="en-US" sz="2800" dirty="0"/>
          </a:p>
          <a:p>
            <a:pPr indent="0" marL="0">
              <a:spcAft>
                <a:spcPts val="800"/>
              </a:spcAft>
              <a:buNone/>
            </a:pPr>
            <a:r>
              <a:rPr lang="en-US" sz="2800" dirty="0">
                <a:solidFill>
                  <a:srgbClr val="242229"/>
                </a:solidFill>
                <a:latin typeface="Arial" pitchFamily="34" charset="0"/>
                <a:ea typeface="Arial" pitchFamily="34" charset="-122"/>
                <a:cs typeface="Arial" pitchFamily="34" charset="-120"/>
              </a:rPr>
              <a:t>The same .venv.</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Check: the same Python environment?</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DISCUSS · 60 SECONDS</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12</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TERMINAL</a:t>
            </a:r>
            <a:endParaRPr lang="en-US" sz="1400" dirty="0"/>
          </a:p>
        </p:txBody>
      </p:sp>
      <p:sp>
        <p:nvSpPr>
          <p:cNvPr id="9" name="Shape 6"/>
          <p:cNvSpPr/>
          <p:nvPr/>
        </p:nvSpPr>
        <p:spPr>
          <a:xfrm>
            <a:off x="548640" y="2286000"/>
            <a:ext cx="11064240" cy="9144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10661904" cy="5852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/Users/student/stat303-setup/.venv/bin/python</a:t>
            </a:r>
            <a:endParaRPr lang="en-US" sz="2300" dirty="0"/>
          </a:p>
        </p:txBody>
      </p:sp>
      <p:sp>
        <p:nvSpPr>
          <p:cNvPr id="11" name="Text 8"/>
          <p:cNvSpPr/>
          <p:nvPr/>
        </p:nvSpPr>
        <p:spPr>
          <a:xfrm>
            <a:off x="548640" y="36576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NOTEBOOK</a:t>
            </a:r>
            <a:endParaRPr lang="en-US" sz="1400" dirty="0"/>
          </a:p>
        </p:txBody>
      </p:sp>
      <p:sp>
        <p:nvSpPr>
          <p:cNvPr id="12" name="Shape 9"/>
          <p:cNvSpPr/>
          <p:nvPr/>
        </p:nvSpPr>
        <p:spPr>
          <a:xfrm>
            <a:off x="548640" y="4114800"/>
            <a:ext cx="11064240" cy="914400"/>
          </a:xfrm>
          <a:prstGeom prst="rect">
            <a:avLst/>
          </a:prstGeom>
          <a:solidFill>
            <a:srgbClr val="F2F0F6"/>
          </a:solidFill>
          <a:ln w="12700">
            <a:solidFill>
              <a:srgbClr val="F2F0F6">
                <a:alpha val="0"/>
              </a:srgbClr>
            </a:solidFill>
            <a:prstDash val="solid"/>
          </a:ln>
        </p:spPr>
      </p:sp>
      <p:sp>
        <p:nvSpPr>
          <p:cNvPr id="13" name="Text 10"/>
          <p:cNvSpPr/>
          <p:nvPr/>
        </p:nvSpPr>
        <p:spPr>
          <a:xfrm>
            <a:off x="749808" y="4297680"/>
            <a:ext cx="10661904" cy="5852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/Users/student/other-project/.venv/bin/python</a:t>
            </a:r>
            <a:endParaRPr lang="en-US" sz="2300" dirty="0"/>
          </a:p>
        </p:txBody>
      </p:sp>
      <p:sp>
        <p:nvSpPr>
          <p:cNvPr id="14" name="Text 11"/>
          <p:cNvSpPr/>
          <p:nvPr/>
        </p:nvSpPr>
        <p:spPr>
          <a:xfrm>
            <a:off x="548640" y="5532120"/>
            <a:ext cx="10972800" cy="594360"/>
          </a:xfrm>
          <a:prstGeom prst="rect">
            <a:avLst/>
          </a:prstGeom>
          <a:noFill/>
          <a:ln/>
        </p:spPr>
        <p:txBody>
          <a:bodyPr wrap="square" lIns="0" tIns="0" rIns="0" bIns="0" rtlCol="0" anchor="t"/>
          <a:lstStyle/>
          <a:p>
            <a:pPr indent="0" marL="0">
              <a:spcAft>
                <a:spcPts val="800"/>
              </a:spcAft>
              <a:buNone/>
            </a:pPr>
            <a:r>
              <a:rPr lang="en-US" sz="2600" dirty="0">
                <a:solidFill>
                  <a:srgbClr val="242229"/>
                </a:solidFill>
                <a:latin typeface="Arial" pitchFamily="34" charset="0"/>
                <a:ea typeface="Arial" pitchFamily="34" charset="-122"/>
                <a:cs typeface="Arial" pitchFamily="34" charset="-120"/>
              </a:rPr>
              <a:t>What would you change before installing packages?</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Install packages in the intended environment</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2.7</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13</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TERMINAL · VERIFIED .venv</a:t>
            </a:r>
            <a:endParaRPr lang="en-US" sz="1400" dirty="0"/>
          </a:p>
        </p:txBody>
      </p:sp>
      <p:sp>
        <p:nvSpPr>
          <p:cNvPr id="9" name="Shape 6"/>
          <p:cNvSpPr/>
          <p:nvPr/>
        </p:nvSpPr>
        <p:spPr>
          <a:xfrm>
            <a:off x="548640" y="2286000"/>
            <a:ext cx="11064240" cy="9144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10661904" cy="5852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pip install ipykernel numpy pandas matplotlib</a:t>
            </a:r>
            <a:endParaRPr lang="en-US" sz="2300" dirty="0"/>
          </a:p>
        </p:txBody>
      </p:sp>
      <p:sp>
        <p:nvSpPr>
          <p:cNvPr id="11" name="Text 8"/>
          <p:cNvSpPr/>
          <p:nvPr/>
        </p:nvSpPr>
        <p:spPr>
          <a:xfrm>
            <a:off x="548640" y="36576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NOTEBOOK · SELECTED .venv KERNEL</a:t>
            </a:r>
            <a:endParaRPr lang="en-US" sz="1400" dirty="0"/>
          </a:p>
        </p:txBody>
      </p:sp>
      <p:sp>
        <p:nvSpPr>
          <p:cNvPr id="12" name="Shape 9"/>
          <p:cNvSpPr/>
          <p:nvPr/>
        </p:nvSpPr>
        <p:spPr>
          <a:xfrm>
            <a:off x="548640" y="4114800"/>
            <a:ext cx="11064240" cy="914400"/>
          </a:xfrm>
          <a:prstGeom prst="rect">
            <a:avLst/>
          </a:prstGeom>
          <a:solidFill>
            <a:srgbClr val="F2F0F6"/>
          </a:solidFill>
          <a:ln w="12700">
            <a:solidFill>
              <a:srgbClr val="F2F0F6">
                <a:alpha val="0"/>
              </a:srgbClr>
            </a:solidFill>
            <a:prstDash val="solid"/>
          </a:ln>
        </p:spPr>
      </p:sp>
      <p:sp>
        <p:nvSpPr>
          <p:cNvPr id="13" name="Text 10"/>
          <p:cNvSpPr/>
          <p:nvPr/>
        </p:nvSpPr>
        <p:spPr>
          <a:xfrm>
            <a:off x="749808" y="4297680"/>
            <a:ext cx="10661904" cy="585216"/>
          </a:xfrm>
          <a:prstGeom prst="rect">
            <a:avLst/>
          </a:prstGeom>
          <a:noFill/>
          <a:ln/>
        </p:spPr>
        <p:txBody>
          <a:bodyPr wrap="square" lIns="0" tIns="0" rIns="0" bIns="0" rtlCol="0" anchor="t"/>
          <a:lstStyle/>
          <a:p>
            <a:pPr indent="0" marL="0">
              <a:spcAft>
                <a:spcPts val="800"/>
              </a:spcAft>
              <a:buNone/>
            </a:pPr>
            <a:r>
              <a:rPr lang="en-US" sz="2400" dirty="0">
                <a:solidFill>
                  <a:srgbClr val="401F68"/>
                </a:solidFill>
                <a:latin typeface="Courier New" pitchFamily="34" charset="0"/>
                <a:ea typeface="Courier New" pitchFamily="34" charset="-122"/>
                <a:cs typeface="Courier New" pitchFamily="34" charset="-120"/>
              </a:rPr>
              <a:t>%pip install seaborn</a:t>
            </a:r>
            <a:endParaRPr lang="en-US" sz="2400" dirty="0"/>
          </a:p>
        </p:txBody>
      </p:sp>
      <p:sp>
        <p:nvSpPr>
          <p:cNvPr id="14" name="Text 11"/>
          <p:cNvSpPr/>
          <p:nvPr/>
        </p:nvSpPr>
        <p:spPr>
          <a:xfrm>
            <a:off x="548640" y="5532120"/>
            <a:ext cx="10972800" cy="502920"/>
          </a:xfrm>
          <a:prstGeom prst="rect">
            <a:avLst/>
          </a:prstGeom>
          <a:noFill/>
          <a:ln/>
        </p:spPr>
        <p:txBody>
          <a:bodyPr wrap="square" lIns="0" tIns="0" rIns="0" bIns="0" rtlCol="0" anchor="t"/>
          <a:lstStyle/>
          <a:p>
            <a:pPr indent="0" marL="0">
              <a:spcAft>
                <a:spcPts val="800"/>
              </a:spcAft>
              <a:buNone/>
            </a:pPr>
            <a:r>
              <a:rPr lang="en-US" sz="2400" dirty="0">
                <a:solidFill>
                  <a:srgbClr val="242229"/>
                </a:solidFill>
                <a:latin typeface="Arial" pitchFamily="34" charset="0"/>
                <a:ea typeface="Arial" pitchFamily="34" charset="-122"/>
                <a:cs typeface="Arial" pitchFamily="34" charset="-120"/>
              </a:rPr>
              <a:t>Installation puts packages in the environment.</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Install once; import in each notebook</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2.7</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14</a:t>
            </a:r>
            <a:endParaRPr lang="en-US" sz="1100" dirty="0"/>
          </a:p>
        </p:txBody>
      </p:sp>
      <p:sp>
        <p:nvSpPr>
          <p:cNvPr id="8" name="Shape 5"/>
          <p:cNvSpPr/>
          <p:nvPr/>
        </p:nvSpPr>
        <p:spPr>
          <a:xfrm>
            <a:off x="548640" y="1783080"/>
            <a:ext cx="6400800" cy="4389120"/>
          </a:xfrm>
          <a:prstGeom prst="rect">
            <a:avLst/>
          </a:prstGeom>
          <a:solidFill>
            <a:srgbClr val="F2F0F6"/>
          </a:solidFill>
          <a:ln w="12700">
            <a:solidFill>
              <a:srgbClr val="F2F0F6">
                <a:alpha val="0"/>
              </a:srgbClr>
            </a:solidFill>
            <a:prstDash val="solid"/>
          </a:ln>
        </p:spPr>
      </p:sp>
      <p:sp>
        <p:nvSpPr>
          <p:cNvPr id="9" name="Text 6"/>
          <p:cNvSpPr/>
          <p:nvPr/>
        </p:nvSpPr>
        <p:spPr>
          <a:xfrm>
            <a:off x="749808" y="1965960"/>
            <a:ext cx="5998464" cy="4059936"/>
          </a:xfrm>
          <a:prstGeom prst="rect">
            <a:avLst/>
          </a:prstGeom>
          <a:noFill/>
          <a:ln/>
        </p:spPr>
        <p:txBody>
          <a:bodyPr wrap="square" lIns="0" tIns="0" rIns="0" bIns="0" rtlCol="0" anchor="t"/>
          <a:lstStyle/>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import numpy as np</a:t>
            </a:r>
            <a:endParaRPr lang="en-US" sz="2100" dirty="0"/>
          </a:p>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import pandas as pd</a:t>
            </a:r>
            <a:endParaRPr lang="en-US" sz="2100" dirty="0"/>
          </a:p>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import matplotlib</a:t>
            </a:r>
            <a:endParaRPr lang="en-US" sz="2100" dirty="0"/>
          </a:p>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import seaborn as sns</a:t>
            </a:r>
            <a:endParaRPr lang="en-US" sz="2100" dirty="0"/>
          </a:p>
          <a:p>
            <a:pPr indent="0" marL="0">
              <a:spcAft>
                <a:spcPts val="800"/>
              </a:spcAft>
              <a:buNone/>
            </a:pPr>
            <a:endParaRPr lang="en-US" sz="2100" dirty="0"/>
          </a:p>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print(np.__version__)</a:t>
            </a:r>
            <a:endParaRPr lang="en-US" sz="2100" dirty="0"/>
          </a:p>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print(pd.__version__)</a:t>
            </a:r>
            <a:endParaRPr lang="en-US" sz="2100" dirty="0"/>
          </a:p>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print(matplotlib.__version__)</a:t>
            </a:r>
            <a:endParaRPr lang="en-US" sz="2100" dirty="0"/>
          </a:p>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print(sns.__version__)</a:t>
            </a:r>
            <a:endParaRPr lang="en-US" sz="2100" dirty="0"/>
          </a:p>
        </p:txBody>
      </p:sp>
      <p:sp>
        <p:nvSpPr>
          <p:cNvPr id="10" name="Text 7"/>
          <p:cNvSpPr/>
          <p:nvPr/>
        </p:nvSpPr>
        <p:spPr>
          <a:xfrm>
            <a:off x="7498080" y="20574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ON DISK</a:t>
            </a:r>
            <a:endParaRPr lang="en-US" sz="1400" dirty="0"/>
          </a:p>
        </p:txBody>
      </p:sp>
      <p:sp>
        <p:nvSpPr>
          <p:cNvPr id="11" name="Text 8"/>
          <p:cNvSpPr/>
          <p:nvPr/>
        </p:nvSpPr>
        <p:spPr>
          <a:xfrm>
            <a:off x="7498080" y="2560320"/>
            <a:ext cx="4023360" cy="1005840"/>
          </a:xfrm>
          <a:prstGeom prst="rect">
            <a:avLst/>
          </a:prstGeom>
          <a:noFill/>
          <a:ln/>
        </p:spPr>
        <p:txBody>
          <a:bodyPr wrap="square" lIns="0" tIns="0" rIns="0" bIns="0" rtlCol="0" anchor="t"/>
          <a:lstStyle/>
          <a:p>
            <a:pPr indent="0" marL="0">
              <a:spcAft>
                <a:spcPts val="800"/>
              </a:spcAft>
              <a:buNone/>
            </a:pPr>
            <a:r>
              <a:rPr lang="en-US" sz="2300" dirty="0">
                <a:solidFill>
                  <a:srgbClr val="242229"/>
                </a:solidFill>
                <a:latin typeface="Arial" pitchFamily="34" charset="0"/>
                <a:ea typeface="Arial" pitchFamily="34" charset="-122"/>
                <a:cs typeface="Arial" pitchFamily="34" charset="-120"/>
              </a:rPr>
              <a:t>.venv and packages remain.</a:t>
            </a:r>
            <a:endParaRPr lang="en-US" sz="2300" dirty="0"/>
          </a:p>
        </p:txBody>
      </p:sp>
      <p:sp>
        <p:nvSpPr>
          <p:cNvPr id="12" name="Text 9"/>
          <p:cNvSpPr/>
          <p:nvPr/>
        </p:nvSpPr>
        <p:spPr>
          <a:xfrm>
            <a:off x="7498080" y="402336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IN THE KERNEL SESSION</a:t>
            </a:r>
            <a:endParaRPr lang="en-US" sz="1400" dirty="0"/>
          </a:p>
        </p:txBody>
      </p:sp>
      <p:sp>
        <p:nvSpPr>
          <p:cNvPr id="13" name="Text 10"/>
          <p:cNvSpPr/>
          <p:nvPr/>
        </p:nvSpPr>
        <p:spPr>
          <a:xfrm>
            <a:off x="7498080" y="4526280"/>
            <a:ext cx="4023360" cy="1097280"/>
          </a:xfrm>
          <a:prstGeom prst="rect">
            <a:avLst/>
          </a:prstGeom>
          <a:noFill/>
          <a:ln/>
        </p:spPr>
        <p:txBody>
          <a:bodyPr wrap="square" lIns="0" tIns="0" rIns="0" bIns="0" rtlCol="0" anchor="t"/>
          <a:lstStyle/>
          <a:p>
            <a:pPr indent="0" marL="0">
              <a:spcAft>
                <a:spcPts val="800"/>
              </a:spcAft>
              <a:buNone/>
            </a:pPr>
            <a:r>
              <a:rPr lang="en-US" sz="2300" dirty="0">
                <a:solidFill>
                  <a:srgbClr val="242229"/>
                </a:solidFill>
                <a:latin typeface="Arial" pitchFamily="34" charset="0"/>
                <a:ea typeface="Arial" pitchFamily="34" charset="-122"/>
                <a:cs typeface="Arial" pitchFamily="34" charset="-120"/>
              </a:rPr>
              <a:t>Rerun imports after restarting.</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Record installed packages</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2.8</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15</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macOS / WINDOWS COMMAND PROMPT</a:t>
            </a:r>
            <a:endParaRPr lang="en-US" sz="1400" dirty="0"/>
          </a:p>
        </p:txBody>
      </p:sp>
      <p:sp>
        <p:nvSpPr>
          <p:cNvPr id="9" name="Shape 6"/>
          <p:cNvSpPr/>
          <p:nvPr/>
        </p:nvSpPr>
        <p:spPr>
          <a:xfrm>
            <a:off x="548640" y="2286000"/>
            <a:ext cx="11064240" cy="9144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10661904" cy="5852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python -m pip freeze &gt; requirements.txt</a:t>
            </a:r>
            <a:endParaRPr lang="en-US" sz="2300" dirty="0"/>
          </a:p>
        </p:txBody>
      </p:sp>
      <p:sp>
        <p:nvSpPr>
          <p:cNvPr id="11" name="Text 8"/>
          <p:cNvSpPr/>
          <p:nvPr/>
        </p:nvSpPr>
        <p:spPr>
          <a:xfrm>
            <a:off x="548640" y="36576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WINDOWS POWERSHELL</a:t>
            </a:r>
            <a:endParaRPr lang="en-US" sz="1400" dirty="0"/>
          </a:p>
        </p:txBody>
      </p:sp>
      <p:sp>
        <p:nvSpPr>
          <p:cNvPr id="12" name="Shape 9"/>
          <p:cNvSpPr/>
          <p:nvPr/>
        </p:nvSpPr>
        <p:spPr>
          <a:xfrm>
            <a:off x="548640" y="4114800"/>
            <a:ext cx="11064240" cy="914400"/>
          </a:xfrm>
          <a:prstGeom prst="rect">
            <a:avLst/>
          </a:prstGeom>
          <a:solidFill>
            <a:srgbClr val="F2F0F6"/>
          </a:solidFill>
          <a:ln w="12700">
            <a:solidFill>
              <a:srgbClr val="F2F0F6">
                <a:alpha val="0"/>
              </a:srgbClr>
            </a:solidFill>
            <a:prstDash val="solid"/>
          </a:ln>
        </p:spPr>
      </p:sp>
      <p:sp>
        <p:nvSpPr>
          <p:cNvPr id="13" name="Text 10"/>
          <p:cNvSpPr/>
          <p:nvPr/>
        </p:nvSpPr>
        <p:spPr>
          <a:xfrm>
            <a:off x="749808" y="4297680"/>
            <a:ext cx="10661904" cy="585216"/>
          </a:xfrm>
          <a:prstGeom prst="rect">
            <a:avLst/>
          </a:prstGeom>
          <a:noFill/>
          <a:ln/>
        </p:spPr>
        <p:txBody>
          <a:bodyPr wrap="square" lIns="0" tIns="0" rIns="0" bIns="0" rtlCol="0" anchor="t"/>
          <a:lstStyle/>
          <a:p>
            <a:pPr indent="0" marL="0">
              <a:spcAft>
                <a:spcPts val="800"/>
              </a:spcAft>
              <a:buNone/>
            </a:pPr>
            <a:r>
              <a:rPr lang="en-US" sz="1900" dirty="0">
                <a:solidFill>
                  <a:srgbClr val="401F68"/>
                </a:solidFill>
                <a:latin typeface="Courier New" pitchFamily="34" charset="0"/>
                <a:ea typeface="Courier New" pitchFamily="34" charset="-122"/>
                <a:cs typeface="Courier New" pitchFamily="34" charset="-120"/>
              </a:rPr>
              <a:t>python -m pip freeze | Out-File -Encoding utf8 requirements.txt</a:t>
            </a:r>
            <a:endParaRPr lang="en-US" sz="1900" dirty="0"/>
          </a:p>
        </p:txBody>
      </p:sp>
      <p:sp>
        <p:nvSpPr>
          <p:cNvPr id="14" name="Text 11"/>
          <p:cNvSpPr/>
          <p:nvPr/>
        </p:nvSpPr>
        <p:spPr>
          <a:xfrm>
            <a:off x="548640" y="5532120"/>
            <a:ext cx="10972800" cy="594360"/>
          </a:xfrm>
          <a:prstGeom prst="rect">
            <a:avLst/>
          </a:prstGeom>
          <a:noFill/>
          <a:ln/>
        </p:spPr>
        <p:txBody>
          <a:bodyPr wrap="square" lIns="0" tIns="0" rIns="0" bIns="0" rtlCol="0" anchor="t"/>
          <a:lstStyle/>
          <a:p>
            <a:pPr indent="0" marL="0">
              <a:spcAft>
                <a:spcPts val="800"/>
              </a:spcAft>
              <a:buNone/>
            </a:pPr>
            <a:r>
              <a:rPr lang="en-US" sz="2200" dirty="0">
                <a:solidFill>
                  <a:srgbClr val="242229"/>
                </a:solidFill>
                <a:latin typeface="Arial" pitchFamily="34" charset="0"/>
                <a:ea typeface="Arial" pitchFamily="34" charset="-122"/>
                <a:cs typeface="Arial" pitchFamily="34" charset="-120"/>
              </a:rPr>
              <a:t>Open requirements.txt and check the entries. Share the Python version too.</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Recreate the environment from its record</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2.8</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16</a:t>
            </a:r>
            <a:endParaRPr lang="en-US" sz="1100" dirty="0"/>
          </a:p>
        </p:txBody>
      </p:sp>
      <p:sp>
        <p:nvSpPr>
          <p:cNvPr id="8" name="Text 5"/>
          <p:cNvSpPr/>
          <p:nvPr/>
        </p:nvSpPr>
        <p:spPr>
          <a:xfrm>
            <a:off x="548640" y="178308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01</a:t>
            </a:r>
            <a:endParaRPr lang="en-US" sz="3600" dirty="0"/>
          </a:p>
        </p:txBody>
      </p:sp>
      <p:sp>
        <p:nvSpPr>
          <p:cNvPr id="9" name="Text 6"/>
          <p:cNvSpPr/>
          <p:nvPr/>
        </p:nvSpPr>
        <p:spPr>
          <a:xfrm>
            <a:off x="1463040" y="178308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Create and activate a new .venv</a:t>
            </a:r>
            <a:endParaRPr lang="en-US" sz="2300" dirty="0"/>
          </a:p>
        </p:txBody>
      </p:sp>
      <p:sp>
        <p:nvSpPr>
          <p:cNvPr id="10" name="Text 7"/>
          <p:cNvSpPr/>
          <p:nvPr/>
        </p:nvSpPr>
        <p:spPr>
          <a:xfrm>
            <a:off x="1463040" y="237744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Use an installed, compatible Python version.</a:t>
            </a:r>
            <a:endParaRPr lang="en-US" sz="2000" dirty="0"/>
          </a:p>
        </p:txBody>
      </p:sp>
      <p:sp>
        <p:nvSpPr>
          <p:cNvPr id="11" name="Text 8"/>
          <p:cNvSpPr/>
          <p:nvPr/>
        </p:nvSpPr>
        <p:spPr>
          <a:xfrm>
            <a:off x="548640" y="306324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02</a:t>
            </a:r>
            <a:endParaRPr lang="en-US" sz="3600" dirty="0"/>
          </a:p>
        </p:txBody>
      </p:sp>
      <p:sp>
        <p:nvSpPr>
          <p:cNvPr id="12" name="Text 9"/>
          <p:cNvSpPr/>
          <p:nvPr/>
        </p:nvSpPr>
        <p:spPr>
          <a:xfrm>
            <a:off x="1463040" y="306324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Install the recorded requirements</a:t>
            </a:r>
            <a:endParaRPr lang="en-US" sz="2300" dirty="0"/>
          </a:p>
        </p:txBody>
      </p:sp>
      <p:sp>
        <p:nvSpPr>
          <p:cNvPr id="13" name="Text 10"/>
          <p:cNvSpPr/>
          <p:nvPr/>
        </p:nvSpPr>
        <p:spPr>
          <a:xfrm>
            <a:off x="1463040" y="365760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Run from the folder containing requirements.txt.</a:t>
            </a:r>
            <a:endParaRPr lang="en-US" sz="2000" dirty="0"/>
          </a:p>
        </p:txBody>
      </p:sp>
      <p:sp>
        <p:nvSpPr>
          <p:cNvPr id="14" name="Shape 11"/>
          <p:cNvSpPr/>
          <p:nvPr/>
        </p:nvSpPr>
        <p:spPr>
          <a:xfrm>
            <a:off x="1463040" y="4160520"/>
            <a:ext cx="10149840" cy="868680"/>
          </a:xfrm>
          <a:prstGeom prst="rect">
            <a:avLst/>
          </a:prstGeom>
          <a:solidFill>
            <a:srgbClr val="F2F0F6"/>
          </a:solidFill>
          <a:ln w="12700">
            <a:solidFill>
              <a:srgbClr val="F2F0F6">
                <a:alpha val="0"/>
              </a:srgbClr>
            </a:solidFill>
            <a:prstDash val="solid"/>
          </a:ln>
        </p:spPr>
      </p:sp>
      <p:sp>
        <p:nvSpPr>
          <p:cNvPr id="15" name="Text 12"/>
          <p:cNvSpPr/>
          <p:nvPr/>
        </p:nvSpPr>
        <p:spPr>
          <a:xfrm>
            <a:off x="1664208" y="4343400"/>
            <a:ext cx="9747504" cy="53949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python -m pip install -r requirements.txt</a:t>
            </a:r>
            <a:endParaRPr lang="en-US" sz="2300" dirty="0"/>
          </a:p>
        </p:txBody>
      </p:sp>
      <p:sp>
        <p:nvSpPr>
          <p:cNvPr id="16" name="Text 13"/>
          <p:cNvSpPr/>
          <p:nvPr/>
        </p:nvSpPr>
        <p:spPr>
          <a:xfrm>
            <a:off x="1463040" y="5440680"/>
            <a:ext cx="9875520" cy="640080"/>
          </a:xfrm>
          <a:prstGeom prst="rect">
            <a:avLst/>
          </a:prstGeom>
          <a:noFill/>
          <a:ln/>
        </p:spPr>
        <p:txBody>
          <a:bodyPr wrap="square" lIns="0" tIns="0" rIns="0" bIns="0" rtlCol="0" anchor="t"/>
          <a:lstStyle/>
          <a:p>
            <a:pPr indent="0" marL="0">
              <a:spcAft>
                <a:spcPts val="800"/>
              </a:spcAft>
              <a:buNone/>
            </a:pPr>
            <a:r>
              <a:rPr lang="en-US" sz="2400" dirty="0">
                <a:solidFill>
                  <a:srgbClr val="242229"/>
                </a:solidFill>
                <a:latin typeface="Arial" pitchFamily="34" charset="0"/>
                <a:ea typeface="Arial" pitchFamily="34" charset="-122"/>
                <a:cs typeface="Arial" pitchFamily="34" charset="-120"/>
              </a:rPr>
              <a:t>Select the new kernel and repeat the import checks.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Absolute and relative paths</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2.9</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17</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ABSOLUTE · STARTS AT THE FILESYSTEM ROOT</a:t>
            </a:r>
            <a:endParaRPr lang="en-US" sz="1400" dirty="0"/>
          </a:p>
        </p:txBody>
      </p:sp>
      <p:sp>
        <p:nvSpPr>
          <p:cNvPr id="9" name="Shape 6"/>
          <p:cNvSpPr/>
          <p:nvPr/>
        </p:nvSpPr>
        <p:spPr>
          <a:xfrm>
            <a:off x="548640" y="2286000"/>
            <a:ext cx="11064240" cy="9144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10661904" cy="585216"/>
          </a:xfrm>
          <a:prstGeom prst="rect">
            <a:avLst/>
          </a:prstGeom>
          <a:noFill/>
          <a:ln/>
        </p:spPr>
        <p:txBody>
          <a:bodyPr wrap="square" lIns="0" tIns="0" rIns="0" bIns="0" rtlCol="0" anchor="t"/>
          <a:lstStyle/>
          <a:p>
            <a:pPr indent="0" marL="0">
              <a:spcAft>
                <a:spcPts val="800"/>
              </a:spcAft>
              <a:buNone/>
            </a:pPr>
            <a:r>
              <a:rPr lang="en-US" sz="2100" dirty="0">
                <a:solidFill>
                  <a:srgbClr val="401F68"/>
                </a:solidFill>
                <a:latin typeface="Courier New" pitchFamily="34" charset="0"/>
                <a:ea typeface="Courier New" pitchFamily="34" charset="-122"/>
                <a:cs typeface="Courier New" pitchFamily="34" charset="-120"/>
              </a:rPr>
              <a:t>/Users/student/stat303-setup/data/station_readings.csv</a:t>
            </a:r>
            <a:endParaRPr lang="en-US" sz="2100" dirty="0"/>
          </a:p>
        </p:txBody>
      </p:sp>
      <p:sp>
        <p:nvSpPr>
          <p:cNvPr id="11" name="Text 8"/>
          <p:cNvSpPr/>
          <p:nvPr/>
        </p:nvSpPr>
        <p:spPr>
          <a:xfrm>
            <a:off x="548640" y="36576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RELATIVE · STARTS AT THE CURRENT WORKING DIRECTORY</a:t>
            </a:r>
            <a:endParaRPr lang="en-US" sz="1400" dirty="0"/>
          </a:p>
        </p:txBody>
      </p:sp>
      <p:sp>
        <p:nvSpPr>
          <p:cNvPr id="12" name="Shape 9"/>
          <p:cNvSpPr/>
          <p:nvPr/>
        </p:nvSpPr>
        <p:spPr>
          <a:xfrm>
            <a:off x="548640" y="4114800"/>
            <a:ext cx="11064240" cy="914400"/>
          </a:xfrm>
          <a:prstGeom prst="rect">
            <a:avLst/>
          </a:prstGeom>
          <a:solidFill>
            <a:srgbClr val="F2F0F6"/>
          </a:solidFill>
          <a:ln w="12700">
            <a:solidFill>
              <a:srgbClr val="F2F0F6">
                <a:alpha val="0"/>
              </a:srgbClr>
            </a:solidFill>
            <a:prstDash val="solid"/>
          </a:ln>
        </p:spPr>
      </p:sp>
      <p:sp>
        <p:nvSpPr>
          <p:cNvPr id="13" name="Text 10"/>
          <p:cNvSpPr/>
          <p:nvPr/>
        </p:nvSpPr>
        <p:spPr>
          <a:xfrm>
            <a:off x="749808" y="4297680"/>
            <a:ext cx="10661904" cy="585216"/>
          </a:xfrm>
          <a:prstGeom prst="rect">
            <a:avLst/>
          </a:prstGeom>
          <a:noFill/>
          <a:ln/>
        </p:spPr>
        <p:txBody>
          <a:bodyPr wrap="square" lIns="0" tIns="0" rIns="0" bIns="0" rtlCol="0" anchor="t"/>
          <a:lstStyle/>
          <a:p>
            <a:pPr indent="0" marL="0">
              <a:spcAft>
                <a:spcPts val="800"/>
              </a:spcAft>
              <a:buNone/>
            </a:pPr>
            <a:r>
              <a:rPr lang="en-US" sz="2400" dirty="0">
                <a:solidFill>
                  <a:srgbClr val="401F68"/>
                </a:solidFill>
                <a:latin typeface="Courier New" pitchFamily="34" charset="0"/>
                <a:ea typeface="Courier New" pitchFamily="34" charset="-122"/>
                <a:cs typeface="Courier New" pitchFamily="34" charset="-120"/>
              </a:rPr>
              <a:t>data/station_readings.csv</a:t>
            </a:r>
            <a:endParaRPr lang="en-US" sz="2400" dirty="0"/>
          </a:p>
        </p:txBody>
      </p:sp>
      <p:sp>
        <p:nvSpPr>
          <p:cNvPr id="14" name="Text 11"/>
          <p:cNvSpPr/>
          <p:nvPr/>
        </p:nvSpPr>
        <p:spPr>
          <a:xfrm>
            <a:off x="548640" y="5486400"/>
            <a:ext cx="10972800" cy="548640"/>
          </a:xfrm>
          <a:prstGeom prst="rect">
            <a:avLst/>
          </a:prstGeom>
          <a:noFill/>
          <a:ln/>
        </p:spPr>
        <p:txBody>
          <a:bodyPr wrap="square" lIns="0" tIns="0" rIns="0" bIns="0" rtlCol="0" anchor="t"/>
          <a:lstStyle/>
          <a:p>
            <a:pPr indent="0" marL="0">
              <a:spcAft>
                <a:spcPts val="800"/>
              </a:spcAft>
              <a:buNone/>
            </a:pPr>
            <a:r>
              <a:rPr lang="en-US" sz="2300" dirty="0">
                <a:solidFill>
                  <a:srgbClr val="242229"/>
                </a:solidFill>
                <a:latin typeface="Arial" pitchFamily="34" charset="0"/>
                <a:ea typeface="Arial" pitchFamily="34" charset="-122"/>
                <a:cs typeface="Arial" pitchFamily="34" charset="-120"/>
              </a:rPr>
              <a:t>The relative example expects the current folder to be stat303-setup.</a:t>
            </a:r>
            <a:endParaRPr lang="en-US" sz="2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Build a path, then check the file</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2.9</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18</a:t>
            </a:r>
            <a:endParaRPr lang="en-US" sz="1100" dirty="0"/>
          </a:p>
        </p:txBody>
      </p:sp>
      <p:sp>
        <p:nvSpPr>
          <p:cNvPr id="8" name="Shape 5"/>
          <p:cNvSpPr/>
          <p:nvPr/>
        </p:nvSpPr>
        <p:spPr>
          <a:xfrm>
            <a:off x="548640" y="1828800"/>
            <a:ext cx="11064240" cy="3154680"/>
          </a:xfrm>
          <a:prstGeom prst="rect">
            <a:avLst/>
          </a:prstGeom>
          <a:solidFill>
            <a:srgbClr val="F2F0F6"/>
          </a:solidFill>
          <a:ln w="12700">
            <a:solidFill>
              <a:srgbClr val="F2F0F6">
                <a:alpha val="0"/>
              </a:srgbClr>
            </a:solidFill>
            <a:prstDash val="solid"/>
          </a:ln>
        </p:spPr>
      </p:sp>
      <p:sp>
        <p:nvSpPr>
          <p:cNvPr id="9" name="Text 6"/>
          <p:cNvSpPr/>
          <p:nvPr/>
        </p:nvSpPr>
        <p:spPr>
          <a:xfrm>
            <a:off x="749808" y="2011680"/>
            <a:ext cx="10661904" cy="2825496"/>
          </a:xfrm>
          <a:prstGeom prst="rect">
            <a:avLst/>
          </a:prstGeom>
          <a:noFill/>
          <a:ln/>
        </p:spPr>
        <p:txBody>
          <a:bodyPr wrap="square" lIns="0" tIns="0" rIns="0" bIns="0" rtlCol="0" anchor="t"/>
          <a:lstStyle/>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from pathlib import Path</a:t>
            </a:r>
            <a:endParaRPr lang="en-US" sz="2200" dirty="0"/>
          </a:p>
          <a:p>
            <a:pPr indent="0" marL="0">
              <a:spcAft>
                <a:spcPts val="800"/>
              </a:spcAft>
              <a:buNone/>
            </a:pP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print(Path.cwd())</a:t>
            </a: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data_path = Path("data") / "station_readings.csv"</a:t>
            </a: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print("Resolved path:", data_path.resolve())</a:t>
            </a: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print("File found:", data_path.is_file())</a:t>
            </a:r>
            <a:endParaRPr lang="en-US" sz="2200" dirty="0"/>
          </a:p>
        </p:txBody>
      </p:sp>
      <p:sp>
        <p:nvSpPr>
          <p:cNvPr id="10" name="Text 7"/>
          <p:cNvSpPr/>
          <p:nvPr/>
        </p:nvSpPr>
        <p:spPr>
          <a:xfrm>
            <a:off x="548640" y="5440680"/>
            <a:ext cx="10972800" cy="640080"/>
          </a:xfrm>
          <a:prstGeom prst="rect">
            <a:avLst/>
          </a:prstGeom>
          <a:noFill/>
          <a:ln/>
        </p:spPr>
        <p:txBody>
          <a:bodyPr wrap="square" lIns="0" tIns="0" rIns="0" bIns="0" rtlCol="0" anchor="t"/>
          <a:lstStyle/>
          <a:p>
            <a:pPr indent="0" marL="0">
              <a:spcAft>
                <a:spcPts val="800"/>
              </a:spcAft>
              <a:buNone/>
            </a:pPr>
            <a:r>
              <a:rPr lang="en-US" sz="2400" dirty="0">
                <a:solidFill>
                  <a:srgbClr val="242229"/>
                </a:solidFill>
                <a:latin typeface="Arial" pitchFamily="34" charset="0"/>
                <a:ea typeface="Arial" pitchFamily="34" charset="-122"/>
                <a:cs typeface="Arial" pitchFamily="34" charset="-120"/>
              </a:rPr>
              <a:t>resolve() shows the location.     is_file() checks for a file.</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Preview the supplied CSV</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2.9</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19</a:t>
            </a:r>
            <a:endParaRPr lang="en-US" sz="1100" dirty="0"/>
          </a:p>
        </p:txBody>
      </p:sp>
      <p:sp>
        <p:nvSpPr>
          <p:cNvPr id="8" name="Text 5"/>
          <p:cNvSpPr/>
          <p:nvPr/>
        </p:nvSpPr>
        <p:spPr>
          <a:xfrm>
            <a:off x="548640" y="18288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NOTEBOOK CODE CELL</a:t>
            </a:r>
            <a:endParaRPr lang="en-US" sz="1400" dirty="0"/>
          </a:p>
        </p:txBody>
      </p:sp>
      <p:sp>
        <p:nvSpPr>
          <p:cNvPr id="9" name="Shape 6"/>
          <p:cNvSpPr/>
          <p:nvPr/>
        </p:nvSpPr>
        <p:spPr>
          <a:xfrm>
            <a:off x="548640" y="2286000"/>
            <a:ext cx="11064240" cy="914400"/>
          </a:xfrm>
          <a:prstGeom prst="rect">
            <a:avLst/>
          </a:prstGeom>
          <a:solidFill>
            <a:srgbClr val="F2F0F6"/>
          </a:solidFill>
          <a:ln w="12700">
            <a:solidFill>
              <a:srgbClr val="F2F0F6">
                <a:alpha val="0"/>
              </a:srgbClr>
            </a:solidFill>
            <a:prstDash val="solid"/>
          </a:ln>
        </p:spPr>
      </p:sp>
      <p:sp>
        <p:nvSpPr>
          <p:cNvPr id="10" name="Text 7"/>
          <p:cNvSpPr/>
          <p:nvPr/>
        </p:nvSpPr>
        <p:spPr>
          <a:xfrm>
            <a:off x="749808" y="2468880"/>
            <a:ext cx="10661904" cy="585216"/>
          </a:xfrm>
          <a:prstGeom prst="rect">
            <a:avLst/>
          </a:prstGeom>
          <a:noFill/>
          <a:ln/>
        </p:spPr>
        <p:txBody>
          <a:bodyPr wrap="square" lIns="0" tIns="0" rIns="0" bIns="0" rtlCol="0" anchor="t"/>
          <a:lstStyle/>
          <a:p>
            <a:pPr indent="0" marL="0">
              <a:spcAft>
                <a:spcPts val="800"/>
              </a:spcAft>
              <a:buNone/>
            </a:pPr>
            <a:r>
              <a:rPr lang="en-US" sz="2000" dirty="0">
                <a:solidFill>
                  <a:srgbClr val="401F68"/>
                </a:solidFill>
                <a:latin typeface="Courier New" pitchFamily="34" charset="0"/>
                <a:ea typeface="Courier New" pitchFamily="34" charset="-122"/>
                <a:cs typeface="Courier New" pitchFamily="34" charset="-120"/>
              </a:rPr>
              <a:t>print(data_path.read_text(encoding="utf-8").splitlines()[:3])</a:t>
            </a:r>
            <a:endParaRPr lang="en-US" sz="2000" dirty="0"/>
          </a:p>
        </p:txBody>
      </p:sp>
      <p:sp>
        <p:nvSpPr>
          <p:cNvPr id="11" name="Text 8"/>
          <p:cNvSpPr/>
          <p:nvPr/>
        </p:nvSpPr>
        <p:spPr>
          <a:xfrm>
            <a:off x="548640" y="36576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EXPECTED OUTPUT FOR THIS FILE</a:t>
            </a:r>
            <a:endParaRPr lang="en-US" sz="1400" dirty="0"/>
          </a:p>
        </p:txBody>
      </p:sp>
      <p:sp>
        <p:nvSpPr>
          <p:cNvPr id="12" name="Shape 9"/>
          <p:cNvSpPr/>
          <p:nvPr/>
        </p:nvSpPr>
        <p:spPr>
          <a:xfrm>
            <a:off x="548640" y="4114800"/>
            <a:ext cx="11064240" cy="914400"/>
          </a:xfrm>
          <a:prstGeom prst="rect">
            <a:avLst/>
          </a:prstGeom>
          <a:solidFill>
            <a:srgbClr val="F2F0F6"/>
          </a:solidFill>
          <a:ln w="12700">
            <a:solidFill>
              <a:srgbClr val="F2F0F6">
                <a:alpha val="0"/>
              </a:srgbClr>
            </a:solidFill>
            <a:prstDash val="solid"/>
          </a:ln>
        </p:spPr>
      </p:sp>
      <p:sp>
        <p:nvSpPr>
          <p:cNvPr id="13" name="Text 10"/>
          <p:cNvSpPr/>
          <p:nvPr/>
        </p:nvSpPr>
        <p:spPr>
          <a:xfrm>
            <a:off x="749808" y="4297680"/>
            <a:ext cx="10661904" cy="585216"/>
          </a:xfrm>
          <a:prstGeom prst="rect">
            <a:avLst/>
          </a:prstGeom>
          <a:noFill/>
          <a:ln/>
        </p:spPr>
        <p:txBody>
          <a:bodyPr wrap="square" lIns="0" tIns="0" rIns="0" bIns="0" rtlCol="0" anchor="t"/>
          <a:lstStyle/>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['station_id,temperature_c', 'S01,18', 'S02,20']</a:t>
            </a:r>
            <a:endParaRPr lang="en-US" sz="2200" dirty="0"/>
          </a:p>
        </p:txBody>
      </p:sp>
      <p:sp>
        <p:nvSpPr>
          <p:cNvPr id="14" name="Text 11"/>
          <p:cNvSpPr/>
          <p:nvPr/>
        </p:nvSpPr>
        <p:spPr>
          <a:xfrm>
            <a:off x="548640" y="5486400"/>
            <a:ext cx="10972800" cy="548640"/>
          </a:xfrm>
          <a:prstGeom prst="rect">
            <a:avLst/>
          </a:prstGeom>
          <a:noFill/>
          <a:ln/>
        </p:spPr>
        <p:txBody>
          <a:bodyPr wrap="square" lIns="0" tIns="0" rIns="0" bIns="0" rtlCol="0" anchor="t"/>
          <a:lstStyle/>
          <a:p>
            <a:pPr indent="0" marL="0">
              <a:spcAft>
                <a:spcPts val="800"/>
              </a:spcAft>
              <a:buNone/>
            </a:pPr>
            <a:r>
              <a:rPr lang="en-US" sz="2200" dirty="0">
                <a:solidFill>
                  <a:srgbClr val="242229"/>
                </a:solidFill>
                <a:latin typeface="Arial" pitchFamily="34" charset="0"/>
                <a:ea typeface="Arial" pitchFamily="34" charset="-122"/>
                <a:cs typeface="Arial" pitchFamily="34" charset="-120"/>
              </a:rPr>
              <a:t>These are text lines. A later chapter will load tables with Pandas.</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A different working directory changes the path</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2.9.1</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20</a:t>
            </a:r>
            <a:endParaRPr lang="en-US" sz="1100" dirty="0"/>
          </a:p>
        </p:txBody>
      </p:sp>
      <p:sp>
        <p:nvSpPr>
          <p:cNvPr id="8" name="Shape 5"/>
          <p:cNvSpPr/>
          <p:nvPr/>
        </p:nvSpPr>
        <p:spPr>
          <a:xfrm>
            <a:off x="548640" y="1828800"/>
            <a:ext cx="6309360" cy="2834640"/>
          </a:xfrm>
          <a:prstGeom prst="rect">
            <a:avLst/>
          </a:prstGeom>
          <a:solidFill>
            <a:srgbClr val="F2F0F6"/>
          </a:solidFill>
          <a:ln w="12700">
            <a:solidFill>
              <a:srgbClr val="F2F0F6">
                <a:alpha val="0"/>
              </a:srgbClr>
            </a:solidFill>
            <a:prstDash val="solid"/>
          </a:ln>
        </p:spPr>
      </p:sp>
      <p:sp>
        <p:nvSpPr>
          <p:cNvPr id="9" name="Text 6"/>
          <p:cNvSpPr/>
          <p:nvPr/>
        </p:nvSpPr>
        <p:spPr>
          <a:xfrm>
            <a:off x="749808" y="2011680"/>
            <a:ext cx="5907024" cy="2505456"/>
          </a:xfrm>
          <a:prstGeom prst="rect">
            <a:avLst/>
          </a:prstGeom>
          <a:noFill/>
          <a:ln/>
        </p:spPr>
        <p:txBody>
          <a:bodyPr wrap="square" lIns="0" tIns="0" rIns="0" bIns="0" rtlCol="0" anchor="t"/>
          <a:lstStyle/>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example-project/</a:t>
            </a: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 notebooks/</a:t>
            </a: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   └── analysis.ipynb</a:t>
            </a: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 data/</a:t>
            </a:r>
            <a:endParaRPr lang="en-US" sz="2200" dirty="0"/>
          </a:p>
          <a:p>
            <a:pPr indent="0" marL="0">
              <a:spcAft>
                <a:spcPts val="800"/>
              </a:spcAft>
              <a:buNone/>
            </a:pPr>
            <a:r>
              <a:rPr lang="en-US" sz="2200" dirty="0">
                <a:solidFill>
                  <a:srgbClr val="401F68"/>
                </a:solidFill>
                <a:latin typeface="Courier New" pitchFamily="34" charset="0"/>
                <a:ea typeface="Courier New" pitchFamily="34" charset="-122"/>
                <a:cs typeface="Courier New" pitchFamily="34" charset="-120"/>
              </a:rPr>
              <a:t>    └── station_readings.csv</a:t>
            </a:r>
            <a:endParaRPr lang="en-US" sz="2200" dirty="0"/>
          </a:p>
        </p:txBody>
      </p:sp>
      <p:sp>
        <p:nvSpPr>
          <p:cNvPr id="10" name="Text 7"/>
          <p:cNvSpPr/>
          <p:nvPr/>
        </p:nvSpPr>
        <p:spPr>
          <a:xfrm>
            <a:off x="7315200" y="2286000"/>
            <a:ext cx="4206240" cy="1920240"/>
          </a:xfrm>
          <a:prstGeom prst="rect">
            <a:avLst/>
          </a:prstGeom>
          <a:noFill/>
          <a:ln/>
        </p:spPr>
        <p:txBody>
          <a:bodyPr wrap="square" lIns="0" tIns="0" rIns="0" bIns="0" rtlCol="0" anchor="t"/>
          <a:lstStyle/>
          <a:p>
            <a:pPr indent="0" marL="0">
              <a:spcAft>
                <a:spcPts val="800"/>
              </a:spcAft>
              <a:buNone/>
            </a:pPr>
            <a:r>
              <a:rPr lang="en-US" sz="2400" dirty="0">
                <a:solidFill>
                  <a:srgbClr val="242229"/>
                </a:solidFill>
                <a:latin typeface="Arial" pitchFamily="34" charset="0"/>
                <a:ea typeface="Arial" pitchFamily="34" charset="-122"/>
                <a:cs typeface="Arial" pitchFamily="34" charset="-120"/>
              </a:rPr>
              <a:t>If the current directory is</a:t>
            </a:r>
            <a:endParaRPr lang="en-US" sz="2400" dirty="0"/>
          </a:p>
          <a:p>
            <a:pPr indent="0" marL="0">
              <a:spcAft>
                <a:spcPts val="800"/>
              </a:spcAft>
              <a:buNone/>
            </a:pPr>
            <a:r>
              <a:rPr lang="en-US" sz="2400" dirty="0">
                <a:solidFill>
                  <a:srgbClr val="242229"/>
                </a:solidFill>
                <a:latin typeface="Arial" pitchFamily="34" charset="0"/>
                <a:ea typeface="Arial" pitchFamily="34" charset="-122"/>
                <a:cs typeface="Arial" pitchFamily="34" charset="-120"/>
              </a:rPr>
              <a:t>example-project/notebooks,</a:t>
            </a:r>
            <a:endParaRPr lang="en-US" sz="2400" dirty="0"/>
          </a:p>
          <a:p>
            <a:pPr indent="0" marL="0">
              <a:spcAft>
                <a:spcPts val="800"/>
              </a:spcAft>
              <a:buNone/>
            </a:pPr>
            <a:r>
              <a:rPr lang="en-US" sz="2400" dirty="0">
                <a:solidFill>
                  <a:srgbClr val="242229"/>
                </a:solidFill>
                <a:latin typeface="Arial" pitchFamily="34" charset="0"/>
                <a:ea typeface="Arial" pitchFamily="34" charset="-122"/>
                <a:cs typeface="Arial" pitchFamily="34" charset="-120"/>
              </a:rPr>
              <a:t>go up one level first.</a:t>
            </a:r>
            <a:endParaRPr lang="en-US" sz="2400" dirty="0"/>
          </a:p>
        </p:txBody>
      </p:sp>
      <p:sp>
        <p:nvSpPr>
          <p:cNvPr id="11" name="Shape 8"/>
          <p:cNvSpPr/>
          <p:nvPr/>
        </p:nvSpPr>
        <p:spPr>
          <a:xfrm>
            <a:off x="548640" y="5029200"/>
            <a:ext cx="11064240" cy="914400"/>
          </a:xfrm>
          <a:prstGeom prst="rect">
            <a:avLst/>
          </a:prstGeom>
          <a:solidFill>
            <a:srgbClr val="F2F0F6"/>
          </a:solidFill>
          <a:ln w="12700">
            <a:solidFill>
              <a:srgbClr val="F2F0F6">
                <a:alpha val="0"/>
              </a:srgbClr>
            </a:solidFill>
            <a:prstDash val="solid"/>
          </a:ln>
        </p:spPr>
      </p:sp>
      <p:sp>
        <p:nvSpPr>
          <p:cNvPr id="12" name="Text 9"/>
          <p:cNvSpPr/>
          <p:nvPr/>
        </p:nvSpPr>
        <p:spPr>
          <a:xfrm>
            <a:off x="749808" y="5212080"/>
            <a:ext cx="10661904" cy="585216"/>
          </a:xfrm>
          <a:prstGeom prst="rect">
            <a:avLst/>
          </a:prstGeom>
          <a:noFill/>
          <a:ln/>
        </p:spPr>
        <p:txBody>
          <a:bodyPr wrap="square" lIns="0" tIns="0" rIns="0" bIns="0" rtlCol="0" anchor="t"/>
          <a:lstStyle/>
          <a:p>
            <a:pPr indent="0" marL="0">
              <a:spcAft>
                <a:spcPts val="800"/>
              </a:spcAft>
              <a:buNone/>
            </a:pPr>
            <a:r>
              <a:rPr lang="en-US" sz="2300" dirty="0">
                <a:solidFill>
                  <a:srgbClr val="401F68"/>
                </a:solidFill>
                <a:latin typeface="Courier New" pitchFamily="34" charset="0"/>
                <a:ea typeface="Courier New" pitchFamily="34" charset="-122"/>
                <a:cs typeface="Courier New" pitchFamily="34" charset="-120"/>
              </a:rPr>
              <a:t>Path("..") / "data" / "station_readings.csv"</a:t>
            </a:r>
            <a:endParaRPr lang="en-US" sz="2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Check: the terminal moved into data</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DISCUSS · 60 SECONDS</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21</a:t>
            </a:r>
            <a:endParaRPr lang="en-US" sz="1100" dirty="0"/>
          </a:p>
        </p:txBody>
      </p:sp>
      <p:sp>
        <p:nvSpPr>
          <p:cNvPr id="8" name="Text 5"/>
          <p:cNvSpPr/>
          <p:nvPr/>
        </p:nvSpPr>
        <p:spPr>
          <a:xfrm>
            <a:off x="548640" y="1828800"/>
            <a:ext cx="10972800" cy="1325880"/>
          </a:xfrm>
          <a:prstGeom prst="rect">
            <a:avLst/>
          </a:prstGeom>
          <a:noFill/>
          <a:ln/>
        </p:spPr>
        <p:txBody>
          <a:bodyPr wrap="square" lIns="0" tIns="0" rIns="0" bIns="0" rtlCol="0" anchor="t"/>
          <a:lstStyle/>
          <a:p>
            <a:pPr indent="0" marL="0">
              <a:spcAft>
                <a:spcPts val="800"/>
              </a:spcAft>
              <a:buNone/>
            </a:pPr>
            <a:r>
              <a:rPr lang="en-US" sz="2800" dirty="0">
                <a:solidFill>
                  <a:srgbClr val="242229"/>
                </a:solidFill>
                <a:latin typeface="Arial" pitchFamily="34" charset="0"/>
                <a:ea typeface="Arial" pitchFamily="34" charset="-122"/>
                <a:cs typeface="Arial" pitchFamily="34" charset="-120"/>
              </a:rPr>
              <a:t>The notebook’s current directory is stat303-setup.</a:t>
            </a:r>
            <a:endParaRPr lang="en-US" sz="2800" dirty="0"/>
          </a:p>
          <a:p>
            <a:pPr indent="0" marL="0">
              <a:spcAft>
                <a:spcPts val="800"/>
              </a:spcAft>
              <a:buNone/>
            </a:pPr>
            <a:r>
              <a:rPr lang="en-US" sz="2800" dirty="0">
                <a:solidFill>
                  <a:srgbClr val="242229"/>
                </a:solidFill>
                <a:latin typeface="Arial" pitchFamily="34" charset="0"/>
                <a:ea typeface="Arial" pitchFamily="34" charset="-122"/>
                <a:cs typeface="Arial" pitchFamily="34" charset="-120"/>
              </a:rPr>
              <a:t>In the terminal, you run cd data.</a:t>
            </a:r>
            <a:endParaRPr lang="en-US" sz="2800" dirty="0"/>
          </a:p>
        </p:txBody>
      </p:sp>
      <p:sp>
        <p:nvSpPr>
          <p:cNvPr id="9" name="Text 6"/>
          <p:cNvSpPr/>
          <p:nvPr/>
        </p:nvSpPr>
        <p:spPr>
          <a:xfrm>
            <a:off x="548640" y="3657600"/>
            <a:ext cx="45720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PREDICT BEFORE RUNNING</a:t>
            </a:r>
            <a:endParaRPr lang="en-US" sz="1400" dirty="0"/>
          </a:p>
        </p:txBody>
      </p:sp>
      <p:sp>
        <p:nvSpPr>
          <p:cNvPr id="10" name="Shape 7"/>
          <p:cNvSpPr/>
          <p:nvPr/>
        </p:nvSpPr>
        <p:spPr>
          <a:xfrm>
            <a:off x="548640" y="4114800"/>
            <a:ext cx="6675120" cy="1280160"/>
          </a:xfrm>
          <a:prstGeom prst="rect">
            <a:avLst/>
          </a:prstGeom>
          <a:solidFill>
            <a:srgbClr val="F2F0F6"/>
          </a:solidFill>
          <a:ln w="12700">
            <a:solidFill>
              <a:srgbClr val="F2F0F6">
                <a:alpha val="0"/>
              </a:srgbClr>
            </a:solidFill>
            <a:prstDash val="solid"/>
          </a:ln>
        </p:spPr>
      </p:sp>
      <p:sp>
        <p:nvSpPr>
          <p:cNvPr id="11" name="Text 8"/>
          <p:cNvSpPr/>
          <p:nvPr/>
        </p:nvSpPr>
        <p:spPr>
          <a:xfrm>
            <a:off x="749808" y="4297680"/>
            <a:ext cx="6272784" cy="950976"/>
          </a:xfrm>
          <a:prstGeom prst="rect">
            <a:avLst/>
          </a:prstGeom>
          <a:noFill/>
          <a:ln/>
        </p:spPr>
        <p:txBody>
          <a:bodyPr wrap="square" lIns="0" tIns="0" rIns="0" bIns="0" rtlCol="0" anchor="t"/>
          <a:lstStyle/>
          <a:p>
            <a:pPr indent="0" marL="0">
              <a:spcAft>
                <a:spcPts val="800"/>
              </a:spcAft>
              <a:buNone/>
            </a:pPr>
            <a:r>
              <a:rPr lang="en-US" sz="2400" dirty="0">
                <a:solidFill>
                  <a:srgbClr val="401F68"/>
                </a:solidFill>
                <a:latin typeface="Courier New" pitchFamily="34" charset="0"/>
                <a:ea typeface="Courier New" pitchFamily="34" charset="-122"/>
                <a:cs typeface="Courier New" pitchFamily="34" charset="-120"/>
              </a:rPr>
              <a:t># In the notebook</a:t>
            </a:r>
            <a:endParaRPr lang="en-US" sz="2400" dirty="0"/>
          </a:p>
          <a:p>
            <a:pPr indent="0" marL="0">
              <a:spcAft>
                <a:spcPts val="800"/>
              </a:spcAft>
              <a:buNone/>
            </a:pPr>
            <a:r>
              <a:rPr lang="en-US" sz="2400" dirty="0">
                <a:solidFill>
                  <a:srgbClr val="401F68"/>
                </a:solidFill>
                <a:latin typeface="Courier New" pitchFamily="34" charset="0"/>
                <a:ea typeface="Courier New" pitchFamily="34" charset="-122"/>
                <a:cs typeface="Courier New" pitchFamily="34" charset="-120"/>
              </a:rPr>
              <a:t>print(Path.cwd())</a:t>
            </a:r>
            <a:endParaRPr lang="en-US" sz="2400" dirty="0"/>
          </a:p>
        </p:txBody>
      </p:sp>
      <p:sp>
        <p:nvSpPr>
          <p:cNvPr id="12" name="Text 9"/>
          <p:cNvSpPr/>
          <p:nvPr/>
        </p:nvSpPr>
        <p:spPr>
          <a:xfrm>
            <a:off x="7680960" y="4160520"/>
            <a:ext cx="3840480" cy="1371600"/>
          </a:xfrm>
          <a:prstGeom prst="rect">
            <a:avLst/>
          </a:prstGeom>
          <a:noFill/>
          <a:ln/>
        </p:spPr>
        <p:txBody>
          <a:bodyPr wrap="square" lIns="0" tIns="0" rIns="0" bIns="0" rtlCol="0" anchor="t"/>
          <a:lstStyle/>
          <a:p>
            <a:pPr indent="0" marL="0">
              <a:spcAft>
                <a:spcPts val="800"/>
              </a:spcAft>
              <a:buNone/>
            </a:pPr>
            <a:r>
              <a:rPr lang="en-US" sz="2600" dirty="0">
                <a:solidFill>
                  <a:srgbClr val="242229"/>
                </a:solidFill>
                <a:latin typeface="Arial" pitchFamily="34" charset="0"/>
                <a:ea typeface="Arial" pitchFamily="34" charset="-122"/>
                <a:cs typeface="Arial" pitchFamily="34" charset="-120"/>
              </a:rPr>
              <a:t>Will the notebook’s</a:t>
            </a:r>
            <a:endParaRPr lang="en-US" sz="2600" dirty="0"/>
          </a:p>
          <a:p>
            <a:pPr indent="0" marL="0">
              <a:spcAft>
                <a:spcPts val="800"/>
              </a:spcAft>
              <a:buNone/>
            </a:pPr>
            <a:r>
              <a:rPr lang="en-US" sz="2600" dirty="0">
                <a:solidFill>
                  <a:srgbClr val="242229"/>
                </a:solidFill>
                <a:latin typeface="Arial" pitchFamily="34" charset="0"/>
                <a:ea typeface="Arial" pitchFamily="34" charset="-122"/>
                <a:cs typeface="Arial" pitchFamily="34" charset="-120"/>
              </a:rPr>
              <a:t>current folder change?</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When is_file() returns False</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2.9</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22</a:t>
            </a:r>
            <a:endParaRPr lang="en-US" sz="1100" dirty="0"/>
          </a:p>
        </p:txBody>
      </p:sp>
      <p:sp>
        <p:nvSpPr>
          <p:cNvPr id="8" name="Text 5"/>
          <p:cNvSpPr/>
          <p:nvPr/>
        </p:nvSpPr>
        <p:spPr>
          <a:xfrm>
            <a:off x="548640" y="18288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01</a:t>
            </a:r>
            <a:endParaRPr lang="en-US" sz="3600" dirty="0"/>
          </a:p>
        </p:txBody>
      </p:sp>
      <p:sp>
        <p:nvSpPr>
          <p:cNvPr id="9" name="Text 6"/>
          <p:cNvSpPr/>
          <p:nvPr/>
        </p:nvSpPr>
        <p:spPr>
          <a:xfrm>
            <a:off x="1463040" y="182880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Check the current directory</a:t>
            </a:r>
            <a:endParaRPr lang="en-US" sz="2300" dirty="0"/>
          </a:p>
        </p:txBody>
      </p:sp>
      <p:sp>
        <p:nvSpPr>
          <p:cNvPr id="10" name="Text 7"/>
          <p:cNvSpPr/>
          <p:nvPr/>
        </p:nvSpPr>
        <p:spPr>
          <a:xfrm>
            <a:off x="1463040" y="242316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Read Path.cwd() and the resolved path.</a:t>
            </a:r>
            <a:endParaRPr lang="en-US" sz="2000" dirty="0"/>
          </a:p>
        </p:txBody>
      </p:sp>
      <p:sp>
        <p:nvSpPr>
          <p:cNvPr id="11" name="Text 8"/>
          <p:cNvSpPr/>
          <p:nvPr/>
        </p:nvSpPr>
        <p:spPr>
          <a:xfrm>
            <a:off x="548640" y="32004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02</a:t>
            </a:r>
            <a:endParaRPr lang="en-US" sz="3600" dirty="0"/>
          </a:p>
        </p:txBody>
      </p:sp>
      <p:sp>
        <p:nvSpPr>
          <p:cNvPr id="12" name="Text 9"/>
          <p:cNvSpPr/>
          <p:nvPr/>
        </p:nvSpPr>
        <p:spPr>
          <a:xfrm>
            <a:off x="1463040" y="320040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Check the name and layout</a:t>
            </a:r>
            <a:endParaRPr lang="en-US" sz="2300" dirty="0"/>
          </a:p>
        </p:txBody>
      </p:sp>
      <p:sp>
        <p:nvSpPr>
          <p:cNvPr id="13" name="Text 10"/>
          <p:cNvSpPr/>
          <p:nvPr/>
        </p:nvSpPr>
        <p:spPr>
          <a:xfrm>
            <a:off x="1463040" y="379476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Confirm capitalization, extraction, and the data folder.</a:t>
            </a:r>
            <a:endParaRPr lang="en-US" sz="2000" dirty="0"/>
          </a:p>
        </p:txBody>
      </p:sp>
      <p:sp>
        <p:nvSpPr>
          <p:cNvPr id="14" name="Text 11"/>
          <p:cNvSpPr/>
          <p:nvPr/>
        </p:nvSpPr>
        <p:spPr>
          <a:xfrm>
            <a:off x="548640" y="45720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03</a:t>
            </a:r>
            <a:endParaRPr lang="en-US" sz="3600" dirty="0"/>
          </a:p>
        </p:txBody>
      </p:sp>
      <p:sp>
        <p:nvSpPr>
          <p:cNvPr id="15" name="Text 12"/>
          <p:cNvSpPr/>
          <p:nvPr/>
        </p:nvSpPr>
        <p:spPr>
          <a:xfrm>
            <a:off x="1463040" y="457200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Correct the path using the folder relationship</a:t>
            </a:r>
            <a:endParaRPr lang="en-US" sz="2300" dirty="0"/>
          </a:p>
        </p:txBody>
      </p:sp>
      <p:sp>
        <p:nvSpPr>
          <p:cNvPr id="16" name="Text 13"/>
          <p:cNvSpPr/>
          <p:nvPr/>
        </p:nvSpPr>
        <p:spPr>
          <a:xfrm>
            <a:off x="1463040" y="516636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Keep a separate wrong_path for the deliberate failure test.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When you return to the project</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RESUME WORK</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23</a:t>
            </a:r>
            <a:endParaRPr lang="en-US" sz="1100" dirty="0"/>
          </a:p>
        </p:txBody>
      </p:sp>
      <p:sp>
        <p:nvSpPr>
          <p:cNvPr id="8" name="Text 5"/>
          <p:cNvSpPr/>
          <p:nvPr/>
        </p:nvSpPr>
        <p:spPr>
          <a:xfrm>
            <a:off x="548640" y="18288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01</a:t>
            </a:r>
            <a:endParaRPr lang="en-US" sz="3600" dirty="0"/>
          </a:p>
        </p:txBody>
      </p:sp>
      <p:sp>
        <p:nvSpPr>
          <p:cNvPr id="9" name="Text 6"/>
          <p:cNvSpPr/>
          <p:nvPr/>
        </p:nvSpPr>
        <p:spPr>
          <a:xfrm>
            <a:off x="1463040" y="182880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Open stat303-setup</a:t>
            </a:r>
            <a:endParaRPr lang="en-US" sz="2300" dirty="0"/>
          </a:p>
        </p:txBody>
      </p:sp>
      <p:sp>
        <p:nvSpPr>
          <p:cNvPr id="10" name="Text 7"/>
          <p:cNvSpPr/>
          <p:nvPr/>
        </p:nvSpPr>
        <p:spPr>
          <a:xfrm>
            <a:off x="1463040" y="242316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Select its .venv as the notebook kernel.</a:t>
            </a:r>
            <a:endParaRPr lang="en-US" sz="2000" dirty="0"/>
          </a:p>
        </p:txBody>
      </p:sp>
      <p:sp>
        <p:nvSpPr>
          <p:cNvPr id="11" name="Text 8"/>
          <p:cNvSpPr/>
          <p:nvPr/>
        </p:nvSpPr>
        <p:spPr>
          <a:xfrm>
            <a:off x="548640" y="32004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02</a:t>
            </a:r>
            <a:endParaRPr lang="en-US" sz="3600" dirty="0"/>
          </a:p>
        </p:txBody>
      </p:sp>
      <p:sp>
        <p:nvSpPr>
          <p:cNvPr id="12" name="Text 9"/>
          <p:cNvSpPr/>
          <p:nvPr/>
        </p:nvSpPr>
        <p:spPr>
          <a:xfrm>
            <a:off x="1463040" y="320040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Check the terminal</a:t>
            </a:r>
            <a:endParaRPr lang="en-US" sz="2300" dirty="0"/>
          </a:p>
        </p:txBody>
      </p:sp>
      <p:sp>
        <p:nvSpPr>
          <p:cNvPr id="13" name="Text 10"/>
          <p:cNvSpPr/>
          <p:nvPr/>
        </p:nvSpPr>
        <p:spPr>
          <a:xfrm>
            <a:off x="1463040" y="379476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Confirm the folder and activate .venv if needed.</a:t>
            </a:r>
            <a:endParaRPr lang="en-US" sz="2000" dirty="0"/>
          </a:p>
        </p:txBody>
      </p:sp>
      <p:sp>
        <p:nvSpPr>
          <p:cNvPr id="14" name="Text 11"/>
          <p:cNvSpPr/>
          <p:nvPr/>
        </p:nvSpPr>
        <p:spPr>
          <a:xfrm>
            <a:off x="548640" y="4572000"/>
            <a:ext cx="777240" cy="594360"/>
          </a:xfrm>
          <a:prstGeom prst="rect">
            <a:avLst/>
          </a:prstGeom>
          <a:noFill/>
          <a:ln/>
        </p:spPr>
        <p:txBody>
          <a:bodyPr wrap="square" lIns="0" tIns="0" rIns="0" bIns="0" rtlCol="0" anchor="t"/>
          <a:lstStyle/>
          <a:p>
            <a:pPr indent="0" marL="0">
              <a:spcAft>
                <a:spcPts val="800"/>
              </a:spcAft>
              <a:buNone/>
            </a:pPr>
            <a:r>
              <a:rPr lang="en-US" sz="3600" b="1" dirty="0">
                <a:solidFill>
                  <a:srgbClr val="4E2A84"/>
                </a:solidFill>
                <a:latin typeface="Arial" pitchFamily="34" charset="0"/>
                <a:ea typeface="Arial" pitchFamily="34" charset="-122"/>
                <a:cs typeface="Arial" pitchFamily="34" charset="-120"/>
              </a:rPr>
              <a:t>03</a:t>
            </a:r>
            <a:endParaRPr lang="en-US" sz="3600" dirty="0"/>
          </a:p>
        </p:txBody>
      </p:sp>
      <p:sp>
        <p:nvSpPr>
          <p:cNvPr id="15" name="Text 12"/>
          <p:cNvSpPr/>
          <p:nvPr/>
        </p:nvSpPr>
        <p:spPr>
          <a:xfrm>
            <a:off x="1463040" y="4572000"/>
            <a:ext cx="10058400" cy="457200"/>
          </a:xfrm>
          <a:prstGeom prst="rect">
            <a:avLst/>
          </a:prstGeom>
          <a:noFill/>
          <a:ln/>
        </p:spPr>
        <p:txBody>
          <a:bodyPr wrap="square" lIns="0" tIns="0" rIns="0" bIns="0" rtlCol="0" anchor="t"/>
          <a:lstStyle/>
          <a:p>
            <a:pPr indent="0" marL="0">
              <a:spcAft>
                <a:spcPts val="800"/>
              </a:spcAft>
              <a:buNone/>
            </a:pPr>
            <a:r>
              <a:rPr lang="en-US" sz="2300" b="1" dirty="0">
                <a:solidFill>
                  <a:srgbClr val="242229"/>
                </a:solidFill>
                <a:latin typeface="Arial" pitchFamily="34" charset="0"/>
                <a:ea typeface="Arial" pitchFamily="34" charset="-122"/>
                <a:cs typeface="Arial" pitchFamily="34" charset="-120"/>
              </a:rPr>
              <a:t>Run the notebook from the top</a:t>
            </a:r>
            <a:endParaRPr lang="en-US" sz="2300" dirty="0"/>
          </a:p>
        </p:txBody>
      </p:sp>
      <p:sp>
        <p:nvSpPr>
          <p:cNvPr id="16" name="Text 13"/>
          <p:cNvSpPr/>
          <p:nvPr/>
        </p:nvSpPr>
        <p:spPr>
          <a:xfrm>
            <a:off x="1463040" y="5166360"/>
            <a:ext cx="10058400" cy="1097280"/>
          </a:xfrm>
          <a:prstGeom prst="rect">
            <a:avLst/>
          </a:prstGeom>
          <a:noFill/>
          <a:ln/>
        </p:spPr>
        <p:txBody>
          <a:bodyPr wrap="square" lIns="0" tIns="0" rIns="0" bIns="0" rtlCol="0" anchor="t"/>
          <a:lstStyle/>
          <a:p>
            <a:pPr indent="0" marL="0">
              <a:spcAft>
                <a:spcPts val="800"/>
              </a:spcAft>
              <a:buNone/>
            </a:pPr>
            <a:r>
              <a:rPr lang="en-US" sz="2000" dirty="0">
                <a:solidFill>
                  <a:srgbClr val="625C69"/>
                </a:solidFill>
                <a:latin typeface="Arial" pitchFamily="34" charset="0"/>
                <a:ea typeface="Arial" pitchFamily="34" charset="-122"/>
                <a:cs typeface="Arial" pitchFamily="34" charset="-120"/>
              </a:rPr>
              <a:t>Restore imports and variables; repeat the data-path check.</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Activity 2: collect the evidence</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2.10</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24</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291840"/>
                <a:gridCol w="7772400"/>
              </a:tblGrid>
              <a:tr h="594360">
                <a:tc>
                  <a:txBody>
                    <a:bodyPr/>
                    <a:lstStyle/>
                    <a:p>
                      <a:pPr indent="0" marL="0">
                        <a:buNone/>
                      </a:pPr>
                      <a:r>
                        <a:rPr lang="en-US" sz="1800" b="1" dirty="0">
                          <a:solidFill>
                            <a:srgbClr val="242229"/>
                          </a:solidFill>
                          <a:latin typeface="Arial" pitchFamily="34" charset="0"/>
                          <a:ea typeface="Arial" pitchFamily="34" charset="-122"/>
                          <a:cs typeface="Arial" pitchFamily="34" charset="-120"/>
                        </a:rPr>
                        <a:t>Part</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c>
                  <a:txBody>
                    <a:bodyPr/>
                    <a:lstStyle/>
                    <a:p>
                      <a:pPr indent="0" marL="0">
                        <a:buNone/>
                      </a:pPr>
                      <a:r>
                        <a:rPr lang="en-US" sz="1800" b="1" dirty="0">
                          <a:solidFill>
                            <a:srgbClr val="242229"/>
                          </a:solidFill>
                          <a:latin typeface="Arial" pitchFamily="34" charset="0"/>
                          <a:ea typeface="Arial" pitchFamily="34" charset="-122"/>
                          <a:cs typeface="Arial" pitchFamily="34" charset="-120"/>
                        </a:rPr>
                        <a:t>Evidence to retain in activity02.ipynb</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E4E0EE"/>
                    </a:solidFill>
                  </a:tcPr>
                </a:tc>
              </a:tr>
              <a:tr h="594360">
                <a:tc>
                  <a:txBody>
                    <a:bodyPr/>
                    <a:lstStyle/>
                    <a:p>
                      <a:pPr indent="0" marL="0">
                        <a:buNone/>
                      </a:pPr>
                      <a:r>
                        <a:rPr lang="en-US" sz="1800" dirty="0">
                          <a:solidFill>
                            <a:srgbClr val="242229"/>
                          </a:solidFill>
                          <a:latin typeface="Arial" pitchFamily="34" charset="0"/>
                          <a:ea typeface="Arial" pitchFamily="34" charset="-122"/>
                          <a:cs typeface="Arial" pitchFamily="34" charset="-120"/>
                        </a:rPr>
                        <a:t>A · Tools and starting folder</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800" dirty="0">
                          <a:solidFill>
                            <a:srgbClr val="242229"/>
                          </a:solidFill>
                          <a:latin typeface="Arial" pitchFamily="34" charset="0"/>
                          <a:ea typeface="Arial" pitchFamily="34" charset="-122"/>
                          <a:cs typeface="Arial" pitchFamily="34" charset="-120"/>
                        </a:rPr>
                        <a:t>Name, shell, explanation, terminal folder and file listing</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42229"/>
                          </a:solidFill>
                          <a:latin typeface="Arial" pitchFamily="34" charset="0"/>
                          <a:ea typeface="Arial" pitchFamily="34" charset="-122"/>
                          <a:cs typeface="Arial" pitchFamily="34" charset="-120"/>
                        </a:rPr>
                        <a:t>B · Environment and packages</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800" dirty="0">
                          <a:solidFill>
                            <a:srgbClr val="242229"/>
                          </a:solidFill>
                          <a:latin typeface="Arial" pitchFamily="34" charset="0"/>
                          <a:ea typeface="Arial" pitchFamily="34" charset="-122"/>
                          <a:cs typeface="Arial" pitchFamily="34" charset="-120"/>
                        </a:rPr>
                        <a:t>Matching executable paths; installation and version checks</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42229"/>
                          </a:solidFill>
                          <a:latin typeface="Arial" pitchFamily="34" charset="0"/>
                          <a:ea typeface="Arial" pitchFamily="34" charset="-122"/>
                          <a:cs typeface="Arial" pitchFamily="34" charset="-120"/>
                        </a:rPr>
                        <a:t>C · Locations</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800" dirty="0">
                          <a:solidFill>
                            <a:srgbClr val="242229"/>
                          </a:solidFill>
                          <a:latin typeface="Arial" pitchFamily="34" charset="0"/>
                          <a:ea typeface="Arial" pitchFamily="34" charset="-122"/>
                          <a:cs typeface="Arial" pitchFamily="34" charset="-120"/>
                        </a:rPr>
                        <a:t>Terminal navigation beside notebook directory checks</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42229"/>
                          </a:solidFill>
                          <a:latin typeface="Arial" pitchFamily="34" charset="0"/>
                          <a:ea typeface="Arial" pitchFamily="34" charset="-122"/>
                          <a:cs typeface="Arial" pitchFamily="34" charset="-120"/>
                        </a:rPr>
                        <a:t>D · Data paths</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800" dirty="0">
                          <a:solidFill>
                            <a:srgbClr val="242229"/>
                          </a:solidFill>
                          <a:latin typeface="Arial" pitchFamily="34" charset="0"/>
                          <a:ea typeface="Arial" pitchFamily="34" charset="-122"/>
                          <a:cs typeface="Arial" pitchFamily="34" charset="-120"/>
                        </a:rPr>
                        <a:t>Predictions, resolved path, True / False checks, CSV preview</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r h="594360">
                <a:tc>
                  <a:txBody>
                    <a:bodyPr/>
                    <a:lstStyle/>
                    <a:p>
                      <a:pPr indent="0" marL="0">
                        <a:buNone/>
                      </a:pPr>
                      <a:r>
                        <a:rPr lang="en-US" sz="1800" dirty="0">
                          <a:solidFill>
                            <a:srgbClr val="242229"/>
                          </a:solidFill>
                          <a:latin typeface="Arial" pitchFamily="34" charset="0"/>
                          <a:ea typeface="Arial" pitchFamily="34" charset="-122"/>
                          <a:cs typeface="Arial" pitchFamily="34" charset="-120"/>
                        </a:rPr>
                        <a:t>E · Dependencies</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c>
                  <a:txBody>
                    <a:bodyPr/>
                    <a:lstStyle/>
                    <a:p>
                      <a:pPr indent="0" marL="0">
                        <a:buNone/>
                      </a:pPr>
                      <a:r>
                        <a:rPr lang="en-US" sz="1800" dirty="0">
                          <a:solidFill>
                            <a:srgbClr val="242229"/>
                          </a:solidFill>
                          <a:latin typeface="Arial" pitchFamily="34" charset="0"/>
                          <a:ea typeface="Arial" pitchFamily="34" charset="-122"/>
                          <a:cs typeface="Arial" pitchFamily="34" charset="-120"/>
                        </a:rPr>
                        <a:t>Export command, two package entries, fresh-run note</a:t>
                      </a:r>
                      <a:endParaRPr lang="en-US" sz="1800" dirty="0">
                        <a:latin typeface="Arial" charset="0"/>
                        <a:ea typeface="Arial" charset="0"/>
                        <a:cs typeface="Arial" charset="0"/>
                      </a:endParaRPr>
                    </a:p>
                  </a:txBody>
                  <a:tcPr marL="137160" marR="137160" marT="137160" marB="137160">
                    <a:lnL w="12700" cap="flat" cmpd="sng" algn="ctr">
                      <a:solidFill>
                        <a:srgbClr val="DDD8E6"/>
                      </a:solidFill>
                      <a:prstDash val="solid"/>
                      <a:round/>
                      <a:headEnd type="none" w="med" len="med"/>
                      <a:tailEnd type="none" w="med" len="med"/>
                    </a:lnL>
                    <a:lnR w="12700" cap="flat" cmpd="sng" algn="ctr">
                      <a:solidFill>
                        <a:srgbClr val="DDD8E6"/>
                      </a:solidFill>
                      <a:prstDash val="solid"/>
                      <a:round/>
                      <a:headEnd type="none" w="med" len="med"/>
                      <a:tailEnd type="none" w="med" len="med"/>
                    </a:lnR>
                    <a:lnT w="12700" cap="flat" cmpd="sng" algn="ctr">
                      <a:solidFill>
                        <a:srgbClr val="DDD8E6"/>
                      </a:solidFill>
                      <a:prstDash val="solid"/>
                      <a:round/>
                      <a:headEnd type="none" w="med" len="med"/>
                      <a:tailEnd type="none" w="med" len="med"/>
                    </a:lnT>
                    <a:lnB w="12700" cap="flat" cmpd="sng" algn="ctr">
                      <a:solidFill>
                        <a:srgbClr val="DDD8E6"/>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5760720"/>
            <a:ext cx="10972800" cy="457200"/>
          </a:xfrm>
          <a:prstGeom prst="rect">
            <a:avLst/>
          </a:prstGeom>
          <a:noFill/>
          <a:ln/>
        </p:spPr>
        <p:txBody>
          <a:bodyPr wrap="square" lIns="0" tIns="0" rIns="0" bIns="0" rtlCol="0" anchor="t"/>
          <a:lstStyle/>
          <a:p>
            <a:pPr indent="0" marL="0">
              <a:spcAft>
                <a:spcPts val="800"/>
              </a:spcAft>
              <a:buNone/>
            </a:pPr>
            <a:r>
              <a:rPr lang="en-US" sz="2100" dirty="0">
                <a:solidFill>
                  <a:srgbClr val="242229"/>
                </a:solidFill>
                <a:latin typeface="Arial" pitchFamily="34" charset="0"/>
                <a:ea typeface="Arial" pitchFamily="34" charset="-122"/>
                <a:cs typeface="Arial" pitchFamily="34" charset="-120"/>
              </a:rPr>
              <a:t>Keep explanations in Markdown and label copied terminal output.</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640080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STAT 303-1  /  CHAPTER 2</a:t>
            </a:r>
            <a:endParaRPr lang="en-US" sz="1100" dirty="0"/>
          </a:p>
        </p:txBody>
      </p:sp>
      <p:sp>
        <p:nvSpPr>
          <p:cNvPr id="3" name="Text 1"/>
          <p:cNvSpPr/>
          <p:nvPr/>
        </p:nvSpPr>
        <p:spPr>
          <a:xfrm>
            <a:off x="548640" y="777240"/>
            <a:ext cx="11064240" cy="777240"/>
          </a:xfrm>
          <a:prstGeom prst="rect">
            <a:avLst/>
          </a:prstGeom>
          <a:noFill/>
          <a:ln/>
        </p:spPr>
        <p:txBody>
          <a:bodyPr wrap="square" lIns="0" tIns="0" rIns="0" bIns="0" rtlCol="0" anchor="t"/>
          <a:lstStyle/>
          <a:p>
            <a:pPr indent="0" marL="0">
              <a:spcAft>
                <a:spcPts val="800"/>
              </a:spcAft>
              <a:buNone/>
            </a:pPr>
            <a:r>
              <a:rPr lang="en-US" sz="3400" b="1" dirty="0">
                <a:solidFill>
                  <a:srgbClr val="4E2A84"/>
                </a:solidFill>
                <a:latin typeface="Arial" pitchFamily="34" charset="0"/>
                <a:ea typeface="Arial" pitchFamily="34" charset="-122"/>
                <a:cs typeface="Arial" pitchFamily="34" charset="-120"/>
              </a:rPr>
              <a:t>Render, inspect, and submit activity02.html</a:t>
            </a:r>
            <a:endParaRPr lang="en-US" sz="3400" dirty="0"/>
          </a:p>
        </p:txBody>
      </p:sp>
      <p:sp>
        <p:nvSpPr>
          <p:cNvPr id="4" name="Text 2"/>
          <p:cNvSpPr/>
          <p:nvPr/>
        </p:nvSpPr>
        <p:spPr>
          <a:xfrm>
            <a:off x="548640" y="6419088"/>
            <a:ext cx="548640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Weinberg College of Arts and Sciences</a:t>
            </a:r>
            <a:endParaRPr lang="en-US" sz="1000" dirty="0"/>
          </a:p>
        </p:txBody>
      </p:sp>
      <p:sp>
        <p:nvSpPr>
          <p:cNvPr id="5" name="Text 3"/>
          <p:cNvSpPr/>
          <p:nvPr/>
        </p:nvSpPr>
        <p:spPr>
          <a:xfrm>
            <a:off x="6583680" y="6419088"/>
            <a:ext cx="4297680" cy="182880"/>
          </a:xfrm>
          <a:prstGeom prst="rect">
            <a:avLst/>
          </a:prstGeom>
          <a:noFill/>
          <a:ln/>
        </p:spPr>
        <p:txBody>
          <a:bodyPr wrap="square" lIns="0" tIns="0" rIns="0" bIns="0" rtlCol="0" anchor="t"/>
          <a:lstStyle/>
          <a:p>
            <a:pPr indent="0" marL="0">
              <a:spcAft>
                <a:spcPts val="800"/>
              </a:spcAft>
              <a:buNone/>
            </a:pPr>
            <a:r>
              <a:rPr lang="en-US" sz="1000" dirty="0">
                <a:solidFill>
                  <a:srgbClr val="625C69"/>
                </a:solidFill>
                <a:latin typeface="Arial" pitchFamily="34" charset="0"/>
                <a:ea typeface="Arial" pitchFamily="34" charset="-122"/>
                <a:cs typeface="Arial" pitchFamily="34" charset="-120"/>
              </a:rPr>
              <a:t>2.10</a:t>
            </a:r>
            <a:endParaRPr lang="en-US" sz="1000" dirty="0"/>
          </a:p>
        </p:txBody>
      </p:sp>
      <p:sp>
        <p:nvSpPr>
          <p:cNvPr id="6" name="Text 4"/>
          <p:cNvSpPr/>
          <p:nvPr/>
        </p:nvSpPr>
        <p:spPr>
          <a:xfrm>
            <a:off x="11064240" y="6400800"/>
            <a:ext cx="548640" cy="228600"/>
          </a:xfrm>
          <a:prstGeom prst="rect">
            <a:avLst/>
          </a:prstGeom>
          <a:noFill/>
          <a:ln/>
        </p:spPr>
        <p:txBody>
          <a:bodyPr wrap="square" lIns="0" tIns="0" rIns="0" bIns="0" rtlCol="0" anchor="t"/>
          <a:lstStyle/>
          <a:p>
            <a:pPr indent="0" marL="0">
              <a:spcAft>
                <a:spcPts val="800"/>
              </a:spcAft>
              <a:buNone/>
            </a:pPr>
            <a:r>
              <a:rPr lang="en-US" sz="1100" b="1" dirty="0">
                <a:solidFill>
                  <a:srgbClr val="4E2A84"/>
                </a:solidFill>
                <a:latin typeface="Arial" pitchFamily="34" charset="0"/>
                <a:ea typeface="Arial" pitchFamily="34" charset="-122"/>
                <a:cs typeface="Arial" pitchFamily="34" charset="-120"/>
              </a:rPr>
              <a:t>25</a:t>
            </a:r>
            <a:endParaRPr lang="en-US" sz="1100" dirty="0"/>
          </a:p>
        </p:txBody>
      </p:sp>
      <p:sp>
        <p:nvSpPr>
          <p:cNvPr id="8" name="Text 5"/>
          <p:cNvSpPr/>
          <p:nvPr/>
        </p:nvSpPr>
        <p:spPr>
          <a:xfrm>
            <a:off x="548640" y="1828800"/>
            <a:ext cx="10972800" cy="640080"/>
          </a:xfrm>
          <a:prstGeom prst="rect">
            <a:avLst/>
          </a:prstGeom>
          <a:noFill/>
          <a:ln/>
        </p:spPr>
        <p:txBody>
          <a:bodyPr wrap="square" lIns="0" tIns="0" rIns="0" bIns="0" rtlCol="0" anchor="t"/>
          <a:lstStyle/>
          <a:p>
            <a:pPr indent="0" marL="0">
              <a:spcAft>
                <a:spcPts val="800"/>
              </a:spcAft>
              <a:buNone/>
            </a:pPr>
            <a:r>
              <a:rPr lang="en-US" sz="2900" dirty="0">
                <a:solidFill>
                  <a:srgbClr val="242229"/>
                </a:solidFill>
                <a:latin typeface="Arial" pitchFamily="34" charset="0"/>
                <a:ea typeface="Arial" pitchFamily="34" charset="-122"/>
                <a:cs typeface="Arial" pitchFamily="34" charset="-120"/>
              </a:rPr>
              <a:t>Restart kernel → Run all cells → Save</a:t>
            </a:r>
            <a:endParaRPr lang="en-US" sz="2900" dirty="0"/>
          </a:p>
        </p:txBody>
      </p:sp>
      <p:sp>
        <p:nvSpPr>
          <p:cNvPr id="9" name="Shape 6"/>
          <p:cNvSpPr/>
          <p:nvPr/>
        </p:nvSpPr>
        <p:spPr>
          <a:xfrm>
            <a:off x="548640" y="2834640"/>
            <a:ext cx="11064240" cy="1005840"/>
          </a:xfrm>
          <a:prstGeom prst="rect">
            <a:avLst/>
          </a:prstGeom>
          <a:solidFill>
            <a:srgbClr val="F2F0F6"/>
          </a:solidFill>
          <a:ln w="12700">
            <a:solidFill>
              <a:srgbClr val="F2F0F6">
                <a:alpha val="0"/>
              </a:srgbClr>
            </a:solidFill>
            <a:prstDash val="solid"/>
          </a:ln>
        </p:spPr>
      </p:sp>
      <p:sp>
        <p:nvSpPr>
          <p:cNvPr id="10" name="Text 7"/>
          <p:cNvSpPr/>
          <p:nvPr/>
        </p:nvSpPr>
        <p:spPr>
          <a:xfrm>
            <a:off x="749808" y="3017520"/>
            <a:ext cx="10661904" cy="676656"/>
          </a:xfrm>
          <a:prstGeom prst="rect">
            <a:avLst/>
          </a:prstGeom>
          <a:noFill/>
          <a:ln/>
        </p:spPr>
        <p:txBody>
          <a:bodyPr wrap="square" lIns="0" tIns="0" rIns="0" bIns="0" rtlCol="0" anchor="t"/>
          <a:lstStyle/>
          <a:p>
            <a:pPr indent="0" marL="0">
              <a:spcAft>
                <a:spcPts val="800"/>
              </a:spcAft>
              <a:buNone/>
            </a:pPr>
            <a:r>
              <a:rPr lang="en-US" sz="2400" dirty="0">
                <a:solidFill>
                  <a:srgbClr val="401F68"/>
                </a:solidFill>
                <a:latin typeface="Courier New" pitchFamily="34" charset="0"/>
                <a:ea typeface="Courier New" pitchFamily="34" charset="-122"/>
                <a:cs typeface="Courier New" pitchFamily="34" charset="-120"/>
              </a:rPr>
              <a:t>quarto render activity02.ipynb --to html</a:t>
            </a:r>
            <a:endParaRPr lang="en-US" sz="2400" dirty="0"/>
          </a:p>
        </p:txBody>
      </p:sp>
      <p:sp>
        <p:nvSpPr>
          <p:cNvPr id="11" name="Text 8"/>
          <p:cNvSpPr/>
          <p:nvPr/>
        </p:nvSpPr>
        <p:spPr>
          <a:xfrm>
            <a:off x="548640" y="4434840"/>
            <a:ext cx="10972800" cy="914400"/>
          </a:xfrm>
          <a:prstGeom prst="rect">
            <a:avLst/>
          </a:prstGeom>
          <a:noFill/>
          <a:ln/>
        </p:spPr>
        <p:txBody>
          <a:bodyPr wrap="square" lIns="0" tIns="0" rIns="0" bIns="0" rtlCol="0" anchor="t"/>
          <a:lstStyle/>
          <a:p>
            <a:pPr indent="0" marL="0">
              <a:spcAft>
                <a:spcPts val="800"/>
              </a:spcAft>
              <a:buNone/>
            </a:pPr>
            <a:r>
              <a:rPr lang="en-US" sz="2500" dirty="0">
                <a:solidFill>
                  <a:srgbClr val="242229"/>
                </a:solidFill>
                <a:latin typeface="Arial" pitchFamily="34" charset="0"/>
                <a:ea typeface="Arial" pitchFamily="34" charset="-122"/>
                <a:cs typeface="Arial" pitchFamily="34" charset="-120"/>
              </a:rPr>
              <a:t>Inspect the HTML and a copy opened outside the project folder.</a:t>
            </a:r>
            <a:endParaRPr lang="en-US" sz="2500" dirty="0"/>
          </a:p>
        </p:txBody>
      </p:sp>
      <p:sp>
        <p:nvSpPr>
          <p:cNvPr id="12" name="Text 9"/>
          <p:cNvSpPr/>
          <p:nvPr/>
        </p:nvSpPr>
        <p:spPr>
          <a:xfrm>
            <a:off x="548640" y="5577840"/>
            <a:ext cx="10972800" cy="320040"/>
          </a:xfrm>
          <a:prstGeom prst="rect">
            <a:avLst/>
          </a:prstGeom>
          <a:noFill/>
          <a:ln/>
        </p:spPr>
        <p:txBody>
          <a:bodyPr wrap="square" lIns="0" tIns="0" rIns="0" bIns="0" rtlCol="0" anchor="t"/>
          <a:lstStyle/>
          <a:p>
            <a:pPr indent="0" marL="0">
              <a:spcAft>
                <a:spcPts val="800"/>
              </a:spcAft>
              <a:buNone/>
            </a:pPr>
            <a:r>
              <a:rPr lang="en-US" sz="1400" b="1" dirty="0">
                <a:solidFill>
                  <a:srgbClr val="4E2A84"/>
                </a:solidFill>
                <a:latin typeface="Arial" pitchFamily="34" charset="0"/>
                <a:ea typeface="Arial" pitchFamily="34" charset="-122"/>
                <a:cs typeface="Arial" pitchFamily="34" charset="-120"/>
              </a:rPr>
              <a:t>SUBMIT THE HTML IN THE CHAPTER 2 CANVAS QUIZ</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E2A84"/>
        </a:solidFill>
      </p:bgPr>
    </p:bg>
    <p:spTree>
      <p:nvGrpSpPr>
        <p:cNvPr id="1" name=""/>
        <p:cNvGrpSpPr/>
        <p:nvPr/>
      </p:nvGrpSpPr>
      <p:grpSpPr>
        <a:xfrm>
          <a:off x="0" y="0"/>
          <a:ext cx="0" cy="0"/>
          <a:chOff x="0" y="0"/>
          <a:chExt cx="0" cy="0"/>
        </a:xfrm>
      </p:grpSpPr>
      <p:pic>
        <p:nvPicPr>
          <p:cNvPr id="2" name="Image 0" descr="/tmp/stat303-ch02-slides/wordmark.png">    </p:cNvPr>
          <p:cNvPicPr>
            <a:picLocks noChangeAspect="1"/>
          </p:cNvPicPr>
          <p:nvPr/>
        </p:nvPicPr>
        <p:blipFill>
          <a:blip r:embed="rId1"/>
          <a:stretch>
            <a:fillRect/>
          </a:stretch>
        </p:blipFill>
        <p:spPr>
          <a:xfrm>
            <a:off x="594360" y="457200"/>
            <a:ext cx="3931920" cy="358079"/>
          </a:xfrm>
          <a:prstGeom prst="rect">
            <a:avLst/>
          </a:prstGeom>
        </p:spPr>
      </p:pic>
      <p:sp>
        <p:nvSpPr>
          <p:cNvPr id="3" name="Text 0"/>
          <p:cNvSpPr/>
          <p:nvPr/>
        </p:nvSpPr>
        <p:spPr>
          <a:xfrm>
            <a:off x="594360" y="1645920"/>
            <a:ext cx="10972800" cy="914400"/>
          </a:xfrm>
          <a:prstGeom prst="rect">
            <a:avLst/>
          </a:prstGeom>
          <a:noFill/>
          <a:ln/>
        </p:spPr>
        <p:txBody>
          <a:bodyPr wrap="square" lIns="0" tIns="0" rIns="0" bIns="0" rtlCol="0" anchor="t"/>
          <a:lstStyle/>
          <a:p>
            <a:pPr indent="0" marL="0">
              <a:spcAft>
                <a:spcPts val="800"/>
              </a:spcAft>
              <a:buNone/>
            </a:pPr>
            <a:r>
              <a:rPr lang="en-US" sz="4000" b="1" dirty="0">
                <a:solidFill>
                  <a:srgbClr val="FFFFFF"/>
                </a:solidFill>
                <a:latin typeface="Arial" pitchFamily="34" charset="0"/>
                <a:ea typeface="Arial" pitchFamily="34" charset="-122"/>
                <a:cs typeface="Arial" pitchFamily="34" charset="-120"/>
              </a:rPr>
              <a:t>Before the next command</a:t>
            </a:r>
            <a:endParaRPr lang="en-US" sz="4000" dirty="0"/>
          </a:p>
        </p:txBody>
      </p:sp>
      <p:sp>
        <p:nvSpPr>
          <p:cNvPr id="4" name="Text 1"/>
          <p:cNvSpPr/>
          <p:nvPr/>
        </p:nvSpPr>
        <p:spPr>
          <a:xfrm>
            <a:off x="594360" y="2743200"/>
            <a:ext cx="10972800" cy="2560320"/>
          </a:xfrm>
          <a:prstGeom prst="rect">
            <a:avLst/>
          </a:prstGeom>
          <a:noFill/>
          <a:ln/>
        </p:spPr>
        <p:txBody>
          <a:bodyPr wrap="square" lIns="0" tIns="0" rIns="0" bIns="0" rtlCol="0" anchor="t"/>
          <a:lstStyle/>
          <a:p>
            <a:pPr indent="0" marL="0">
              <a:spcAft>
                <a:spcPts val="800"/>
              </a:spcAft>
              <a:buNone/>
            </a:pPr>
            <a:r>
              <a:rPr lang="en-US" sz="3000" dirty="0">
                <a:solidFill>
                  <a:srgbClr val="FFFFFF"/>
                </a:solidFill>
                <a:latin typeface="Arial" pitchFamily="34" charset="0"/>
                <a:ea typeface="Arial" pitchFamily="34" charset="-122"/>
                <a:cs typeface="Arial" pitchFamily="34" charset="-120"/>
              </a:rPr>
              <a:t>Where am I typing?</a:t>
            </a:r>
            <a:endParaRPr lang="en-US" sz="3000" dirty="0"/>
          </a:p>
          <a:p>
            <a:pPr indent="0" marL="0">
              <a:spcAft>
                <a:spcPts val="800"/>
              </a:spcAft>
              <a:buNone/>
            </a:pPr>
            <a:endParaRPr lang="en-US" sz="3000" dirty="0"/>
          </a:p>
          <a:p>
            <a:pPr indent="0" marL="0">
              <a:spcAft>
                <a:spcPts val="800"/>
              </a:spcAft>
              <a:buNone/>
            </a:pPr>
            <a:r>
              <a:rPr lang="en-US" sz="3000" dirty="0">
                <a:solidFill>
                  <a:srgbClr val="FFFFFF"/>
                </a:solidFill>
                <a:latin typeface="Arial" pitchFamily="34" charset="0"/>
                <a:ea typeface="Arial" pitchFamily="34" charset="-122"/>
                <a:cs typeface="Arial" pitchFamily="34" charset="-120"/>
              </a:rPr>
              <a:t>Which Python am I using?</a:t>
            </a:r>
            <a:endParaRPr lang="en-US" sz="3000" dirty="0"/>
          </a:p>
          <a:p>
            <a:pPr indent="0" marL="0">
              <a:spcAft>
                <a:spcPts val="800"/>
              </a:spcAft>
              <a:buNone/>
            </a:pPr>
            <a:endParaRPr lang="en-US" sz="3000" dirty="0"/>
          </a:p>
          <a:p>
            <a:pPr indent="0" marL="0">
              <a:spcAft>
                <a:spcPts val="800"/>
              </a:spcAft>
              <a:buNone/>
            </a:pPr>
            <a:r>
              <a:rPr lang="en-US" sz="3000" dirty="0">
                <a:solidFill>
                  <a:srgbClr val="FFFFFF"/>
                </a:solidFill>
                <a:latin typeface="Arial" pitchFamily="34" charset="0"/>
                <a:ea typeface="Arial" pitchFamily="34" charset="-122"/>
                <a:cs typeface="Arial" pitchFamily="34" charset="-120"/>
              </a:rPr>
              <a:t>Which folder is current?</a:t>
            </a:r>
            <a:endParaRPr lang="en-US" sz="3000" dirty="0"/>
          </a:p>
        </p:txBody>
      </p:sp>
      <p:sp>
        <p:nvSpPr>
          <p:cNvPr id="5" name="Text 2"/>
          <p:cNvSpPr/>
          <p:nvPr/>
        </p:nvSpPr>
        <p:spPr>
          <a:xfrm>
            <a:off x="594360" y="5989320"/>
            <a:ext cx="10972800" cy="365760"/>
          </a:xfrm>
          <a:prstGeom prst="rect">
            <a:avLst/>
          </a:prstGeom>
          <a:noFill/>
          <a:ln/>
        </p:spPr>
        <p:txBody>
          <a:bodyPr wrap="square" lIns="0" tIns="0" rIns="0" bIns="0" rtlCol="0" anchor="t"/>
          <a:lstStyle/>
          <a:p>
            <a:pPr indent="0" marL="0">
              <a:spcAft>
                <a:spcPts val="800"/>
              </a:spcAft>
              <a:buNone/>
            </a:pPr>
            <a:r>
              <a:rPr lang="en-US" sz="1800" dirty="0">
                <a:solidFill>
                  <a:srgbClr val="FFFFFF"/>
                </a:solidFill>
                <a:latin typeface="Arial" pitchFamily="34" charset="0"/>
                <a:ea typeface="Arial" pitchFamily="34" charset="-122"/>
                <a:cs typeface="Arial" pitchFamily="34" charset="-120"/>
              </a:rPr>
              <a:t>Next: Assignment B — Setting Up a Reproducible Python Project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Northwestern University · Weinberg College of Arts and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Environments, Packages, and File Paths</dc:title>
  <dc:subject>STAT303 Chapter 2</dc:subject>
  <dc:creator>Lizhen Shi</dc:creator>
  <cp:lastModifiedBy>Lizhen Shi</cp:lastModifiedBy>
  <cp:revision>1</cp:revision>
  <dcterms:created xsi:type="dcterms:W3CDTF">2026-09-12T17:07:31Z</dcterms:created>
  <dcterms:modified xsi:type="dcterms:W3CDTF">2026-09-12T17:07:31Z</dcterms:modified>
</cp:coreProperties>
</file>